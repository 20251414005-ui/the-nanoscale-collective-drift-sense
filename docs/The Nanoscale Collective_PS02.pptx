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53D"/>
    <a:srgbClr val="F56099"/>
    <a:srgbClr val="E3EF3A"/>
    <a:srgbClr val="FDB4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D2889-B3BD-9E7C-EA59-DF95688BF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2E929-4BE4-8066-61BF-ECE88C475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ED820-F2C8-E393-3A10-649DDE70B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72D9F-B496-FE0B-FB92-86404DD5C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5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391A-408D-5419-E6C8-E4228BE7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54B7F-5509-86B2-3B8D-04E2ABA1A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CA366-C3AF-36FA-C4CE-AD1F41E5A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96781-D3C2-30F6-2E63-7840F50F0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02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0F62-499E-58AD-00EB-344CD394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8D92C-A2F5-4EE6-347D-944A4AA25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E1EDC-E71F-6C64-2C5C-D1AFF6A3F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E02E3-6798-3623-E74A-D679A8B32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545A-FB8A-31C4-ACF0-047FFAB2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B1D16-74BA-CFE7-6A29-611854E06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8E3683-7333-8DB2-22F5-998CE57A4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97E90-EDBE-5E66-46AA-248FC7589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78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8C6A-935E-C1ED-054D-974F6706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122B7-111A-F64F-26D0-EB2B75C5B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488EB-195E-0063-A193-045FB23D5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B87E-47C9-01C4-B413-9F1FFBCDC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6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C422-001D-E4DF-7DA4-F3E60340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EF828-97F7-C5E0-F034-4361A7024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DB438-764B-A2A6-3636-303814C9C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5C9E9-5126-F84F-DAD6-088689006C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98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4DEE5-23DA-1BD9-1EB6-008233AE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2D641-8B1E-A213-93B3-70E4C5CF5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B951E-8E8C-475A-1CD4-5F5E49338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4BABB-0C90-EDC7-1EFC-0DA1021CE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11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99F9-7B2F-4A8C-3010-D009CC6D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48A99-32C2-0873-D660-8704784BE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66C12-F357-1B56-4A6B-C3FCA0B00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3DF0A-E86A-DA99-D260-E5AF6E479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34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D5BC-0C53-3E9A-1C5F-5E711F70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2B32D-D1CB-279E-F744-02B4EE1E0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63714-A10D-2B9C-6CFD-AAAFDC0BD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BCD3C-0D4D-7DCB-63E6-CFB2281F9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98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E71AE-697E-D9C8-F16A-15EA82D8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87362-C909-3AA7-CDFF-90FF567E0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8B178-C3BA-7542-E109-C30031582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CE897-37DA-C3E2-76AA-36270EE7D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10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433B8-1F16-5244-FF2A-B2B20BD3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0F673-881F-6823-C376-8646B3762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3730F-FEC2-C5D2-416B-79B24ED28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FF495-E862-386F-1DE7-E6F7B1488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44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023786" y="2458071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431539" y="2869676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440683" y="2878820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544364" y="2878820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749897" y="2878820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161877" y="2878820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440683" y="3761216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544364" y="3761216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749897" y="3761216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161877" y="3761216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40683" y="3763959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440683" y="4212015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544364" y="4212015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749897" y="4212015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161877" y="4212015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40683" y="4667387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544364" y="4667387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749897" y="4667387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161877" y="4667387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478667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459528" y="5207235"/>
            <a:ext cx="11048695" cy="1422879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613127" y="5509574"/>
            <a:ext cx="10649102" cy="312727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613127" y="6206647"/>
            <a:ext cx="5229454" cy="333756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032775" y="6206647"/>
            <a:ext cx="5229454" cy="333756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416462" y="2411270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7918276" y="2524822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31793" y="2993120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734559" y="2993120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3940092" y="2993120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352072" y="2993120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31793" y="3427460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734559" y="3427460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631793" y="3882831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734559" y="3882831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631793" y="4338203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734559" y="4338203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631793" y="4793574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734559" y="4793574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4"/>
          <a:srcRect l="-2994" r="-2994"/>
          <a:stretch/>
        </p:blipFill>
        <p:spPr>
          <a:xfrm>
            <a:off x="613127" y="5294765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850871" y="5266418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613127" y="5938226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50871" y="5908965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6032775" y="5938226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270519" y="5908965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157642" y="2544024"/>
            <a:ext cx="2431284" cy="200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cs typeface="Poppins" pitchFamily="34" charset="-120"/>
              </a:rPr>
              <a:t>The Nanoscale Collective</a:t>
            </a:r>
            <a:endParaRPr lang="en-US" sz="1300" b="1" dirty="0"/>
          </a:p>
        </p:txBody>
      </p:sp>
      <p:sp>
        <p:nvSpPr>
          <p:cNvPr id="55" name="Text 46"/>
          <p:cNvSpPr txBox="1"/>
          <p:nvPr/>
        </p:nvSpPr>
        <p:spPr>
          <a:xfrm>
            <a:off x="3940092" y="3427460"/>
            <a:ext cx="19211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Pratyush Khodade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6" name="Text 47"/>
          <p:cNvSpPr txBox="1"/>
          <p:nvPr/>
        </p:nvSpPr>
        <p:spPr>
          <a:xfrm>
            <a:off x="8352072" y="3427460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7" name="Text 48"/>
          <p:cNvSpPr txBox="1"/>
          <p:nvPr/>
        </p:nvSpPr>
        <p:spPr>
          <a:xfrm>
            <a:off x="3940092" y="3882831"/>
            <a:ext cx="22750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Prasad V. Sonar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8" name="Text 49"/>
          <p:cNvSpPr txBox="1"/>
          <p:nvPr/>
        </p:nvSpPr>
        <p:spPr>
          <a:xfrm>
            <a:off x="8352072" y="3882831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9" name="Text 50"/>
          <p:cNvSpPr txBox="1"/>
          <p:nvPr/>
        </p:nvSpPr>
        <p:spPr>
          <a:xfrm>
            <a:off x="3940092" y="4338203"/>
            <a:ext cx="2805939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Sunny Nigam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0" name="Text 51"/>
          <p:cNvSpPr txBox="1"/>
          <p:nvPr/>
        </p:nvSpPr>
        <p:spPr>
          <a:xfrm>
            <a:off x="8352072" y="4338203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2</a:t>
            </a:r>
            <a:r>
              <a:rPr lang="en-US" sz="1100" i="1" baseline="300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nd</a:t>
            </a: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1" name="Text 52"/>
          <p:cNvSpPr txBox="1"/>
          <p:nvPr/>
        </p:nvSpPr>
        <p:spPr>
          <a:xfrm>
            <a:off x="3940092" y="4793574"/>
            <a:ext cx="2908576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Dhoni Prajapati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2" name="Text 53"/>
          <p:cNvSpPr txBox="1"/>
          <p:nvPr/>
        </p:nvSpPr>
        <p:spPr>
          <a:xfrm>
            <a:off x="8352072" y="4793574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3</a:t>
            </a:r>
            <a:r>
              <a:rPr lang="en-US" sz="1100" i="1" baseline="300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rd</a:t>
            </a:r>
            <a:r>
              <a:rPr lang="en-US" sz="1100" i="1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 Year</a:t>
            </a:r>
            <a:endParaRPr lang="en-US" sz="11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3" name="Text 54"/>
          <p:cNvSpPr txBox="1"/>
          <p:nvPr/>
        </p:nvSpPr>
        <p:spPr>
          <a:xfrm>
            <a:off x="764917" y="5553861"/>
            <a:ext cx="4441558" cy="220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D Y PATIL INTERNATIONAL UNIVERSITY, PUNE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4" name="Text 55"/>
          <p:cNvSpPr txBox="1"/>
          <p:nvPr/>
        </p:nvSpPr>
        <p:spPr>
          <a:xfrm>
            <a:off x="764917" y="6271964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+91  92255 21503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5" name="Text 56"/>
          <p:cNvSpPr txBox="1"/>
          <p:nvPr/>
        </p:nvSpPr>
        <p:spPr>
          <a:xfrm>
            <a:off x="6170313" y="6271964"/>
            <a:ext cx="28382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90000"/>
                  </a:schemeClr>
                </a:solidFill>
                <a:latin typeface="Poppins" pitchFamily="34" charset="0"/>
                <a:cs typeface="Poppins" pitchFamily="34" charset="-120"/>
              </a:rPr>
              <a:t>20241404026@dypiu.ac.in</a:t>
            </a:r>
            <a:endParaRPr lang="en-US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43888760-44FE-8BAA-738C-9AA4E6092107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41AE0819-C14D-85A8-803D-0FA3DE23B338}"/>
              </a:ext>
            </a:extLst>
          </p:cNvPr>
          <p:cNvSpPr txBox="1"/>
          <p:nvPr/>
        </p:nvSpPr>
        <p:spPr>
          <a:xfrm>
            <a:off x="381304" y="577235"/>
            <a:ext cx="12559005" cy="687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250" b="1" cap="all" dirty="0">
                <a:solidFill>
                  <a:schemeClr val="bg1"/>
                </a:solidFill>
              </a:rPr>
              <a:t>PS02 : Drift-Sense: AI-Powered Navigation-Error Recovery for Wafer Inspection Tools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CC1E71A-8845-F6B8-F7C9-78889B98DBF2}"/>
              </a:ext>
            </a:extLst>
          </p:cNvPr>
          <p:cNvCxnSpPr>
            <a:cxnSpLocks/>
          </p:cNvCxnSpPr>
          <p:nvPr/>
        </p:nvCxnSpPr>
        <p:spPr>
          <a:xfrm>
            <a:off x="407131" y="1127016"/>
            <a:ext cx="11554714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Shape 2">
            <a:extLst>
              <a:ext uri="{FF2B5EF4-FFF2-40B4-BE49-F238E27FC236}">
                <a16:creationId xmlns:a16="http://schemas.microsoft.com/office/drawing/2014/main" id="{B8C594F0-64EB-3B9E-5BEF-2BCE9DD950D7}"/>
              </a:ext>
            </a:extLst>
          </p:cNvPr>
          <p:cNvSpPr/>
          <p:nvPr/>
        </p:nvSpPr>
        <p:spPr>
          <a:xfrm>
            <a:off x="216928" y="13671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2">
            <a:extLst>
              <a:ext uri="{FF2B5EF4-FFF2-40B4-BE49-F238E27FC236}">
                <a16:creationId xmlns:a16="http://schemas.microsoft.com/office/drawing/2014/main" id="{7C0950FA-3962-2D5B-777D-45B68F2087C1}"/>
              </a:ext>
            </a:extLst>
          </p:cNvPr>
          <p:cNvSpPr/>
          <p:nvPr/>
        </p:nvSpPr>
        <p:spPr>
          <a:xfrm>
            <a:off x="216665" y="2397096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1BD7B2-A8E5-2EA1-3F29-C79D16C48E6E}"/>
              </a:ext>
            </a:extLst>
          </p:cNvPr>
          <p:cNvSpPr txBox="1"/>
          <p:nvPr/>
        </p:nvSpPr>
        <p:spPr>
          <a:xfrm>
            <a:off x="440683" y="1367149"/>
            <a:ext cx="113718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SOLUTION 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Drift-Sense locates a high-resolution semiconductor reference pattern inside a larger, noisier search image and predicts its centre coordinates using both classical computer vision and deep learning.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F3EE-D6CA-3B1A-9F32-1083DDC5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ECF92B-243B-0EEB-F5F6-D67BD274DC4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DEA21A2-847D-1D68-D70D-89DFE7404A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975AB2E9-EEB1-C930-0ACF-AFBBEB2477F1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4796E-9229-187B-4525-A8C99C54C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B3D99143-E390-88BF-9C23-20B3E1496E56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D4087B5-04D5-4C8A-937E-7BF284A40D59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6870747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3E8EEFA-54A6-6012-B6D9-DCE6ED0A10E3}"/>
              </a:ext>
            </a:extLst>
          </p:cNvPr>
          <p:cNvSpPr txBox="1"/>
          <p:nvPr/>
        </p:nvSpPr>
        <p:spPr>
          <a:xfrm>
            <a:off x="422208" y="714557"/>
            <a:ext cx="1175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Problem Understanding and Navigation-Error Context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BAE9B09-3881-A34A-5979-26A7CE349153}"/>
              </a:ext>
            </a:extLst>
          </p:cNvPr>
          <p:cNvSpPr/>
          <p:nvPr/>
        </p:nvSpPr>
        <p:spPr>
          <a:xfrm>
            <a:off x="216934" y="1491312"/>
            <a:ext cx="4625653" cy="1569128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F49B0E-0E61-8465-7E8F-CFFA467EAA4F}"/>
              </a:ext>
            </a:extLst>
          </p:cNvPr>
          <p:cNvSpPr txBox="1"/>
          <p:nvPr/>
        </p:nvSpPr>
        <p:spPr>
          <a:xfrm>
            <a:off x="289245" y="1612797"/>
            <a:ext cx="203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Problem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462778-1853-09BD-D8CF-824CF058534B}"/>
              </a:ext>
            </a:extLst>
          </p:cNvPr>
          <p:cNvSpPr txBox="1"/>
          <p:nvPr/>
        </p:nvSpPr>
        <p:spPr>
          <a:xfrm>
            <a:off x="289245" y="1982129"/>
            <a:ext cx="4310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A semiconductor inspection system must determine where a small reference region exists inside a much larger search image.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1C869EA-64CB-51B9-2BDB-6B9018792552}"/>
              </a:ext>
            </a:extLst>
          </p:cNvPr>
          <p:cNvSpPr/>
          <p:nvPr/>
        </p:nvSpPr>
        <p:spPr>
          <a:xfrm>
            <a:off x="5150579" y="1491312"/>
            <a:ext cx="6503355" cy="1569128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F9A37E-2CC4-E7F6-3559-0740AA620E5A}"/>
              </a:ext>
            </a:extLst>
          </p:cNvPr>
          <p:cNvSpPr txBox="1"/>
          <p:nvPr/>
        </p:nvSpPr>
        <p:spPr>
          <a:xfrm>
            <a:off x="5190148" y="1526180"/>
            <a:ext cx="2612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Input Specification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A19BAC-C0A4-F75E-E97A-E76BD59666B9}"/>
              </a:ext>
            </a:extLst>
          </p:cNvPr>
          <p:cNvSpPr txBox="1"/>
          <p:nvPr/>
        </p:nvSpPr>
        <p:spPr>
          <a:xfrm>
            <a:off x="5281122" y="1860111"/>
            <a:ext cx="61807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| Reference Image : 1000 x 1000 </a:t>
            </a:r>
            <a:r>
              <a:rPr lang="en-US" sz="1700" dirty="0" err="1">
                <a:solidFill>
                  <a:schemeClr val="bg1"/>
                </a:solidFill>
              </a:rPr>
              <a:t>px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| Search Image       : 1000 x 1000 </a:t>
            </a:r>
            <a:r>
              <a:rPr lang="en-US" sz="1700" dirty="0" err="1">
                <a:solidFill>
                  <a:schemeClr val="bg1"/>
                </a:solidFill>
              </a:rPr>
              <a:t>px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| Search Image       ⁓ </a:t>
            </a:r>
            <a:r>
              <a:rPr lang="en-IN" sz="1700" dirty="0">
                <a:solidFill>
                  <a:schemeClr val="bg1"/>
                </a:solidFill>
              </a:rPr>
              <a:t>10× larger physical field of view</a:t>
            </a:r>
            <a:br>
              <a:rPr lang="en-IN" sz="1700" dirty="0">
                <a:solidFill>
                  <a:schemeClr val="bg1"/>
                </a:solidFill>
              </a:rPr>
            </a:br>
            <a:r>
              <a:rPr lang="en-IN" sz="1700" dirty="0">
                <a:solidFill>
                  <a:schemeClr val="bg1"/>
                </a:solidFill>
              </a:rPr>
              <a:t>| Reference Image  = shrunk 1/10</a:t>
            </a:r>
            <a:r>
              <a:rPr lang="en-IN" sz="1700" baseline="30000" dirty="0">
                <a:solidFill>
                  <a:schemeClr val="bg1"/>
                </a:solidFill>
              </a:rPr>
              <a:t>th</a:t>
            </a:r>
            <a:r>
              <a:rPr lang="en-IN" sz="1700" dirty="0">
                <a:solidFill>
                  <a:schemeClr val="bg1"/>
                </a:solidFill>
              </a:rPr>
              <a:t> inside the search image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9A7871A-BE75-8FAE-ACCA-B3CFD738DBDF}"/>
              </a:ext>
            </a:extLst>
          </p:cNvPr>
          <p:cNvSpPr/>
          <p:nvPr/>
        </p:nvSpPr>
        <p:spPr>
          <a:xfrm>
            <a:off x="216934" y="3211258"/>
            <a:ext cx="6267841" cy="1569128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C5DFE5-1D13-AA22-86CE-EF975C2021BF}"/>
              </a:ext>
            </a:extLst>
          </p:cNvPr>
          <p:cNvSpPr txBox="1"/>
          <p:nvPr/>
        </p:nvSpPr>
        <p:spPr>
          <a:xfrm>
            <a:off x="279914" y="3274791"/>
            <a:ext cx="243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Why is this Difficult 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DFBE6FC-A5C3-70AD-D3D7-53BC278451F5}"/>
              </a:ext>
            </a:extLst>
          </p:cNvPr>
          <p:cNvSpPr txBox="1"/>
          <p:nvPr/>
        </p:nvSpPr>
        <p:spPr>
          <a:xfrm>
            <a:off x="410545" y="3596525"/>
            <a:ext cx="58316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| DRAM and Fin-FET Layouts are highly repetitive.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| </a:t>
            </a:r>
            <a:r>
              <a:rPr lang="en-IN" sz="1600" dirty="0">
                <a:solidFill>
                  <a:schemeClr val="bg1"/>
                </a:solidFill>
              </a:rPr>
              <a:t>A search region can contain many visually similar candidates:</a:t>
            </a:r>
          </a:p>
          <a:p>
            <a:r>
              <a:rPr lang="en-IN" sz="1600" b="1" dirty="0">
                <a:solidFill>
                  <a:schemeClr val="bg1"/>
                </a:solidFill>
              </a:rPr>
              <a:t>     :: Correct pattern ≠ only visually similar pattern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| Therefore, a model can confidently select the </a:t>
            </a:r>
            <a:r>
              <a:rPr lang="en-IN" sz="1600" b="1" dirty="0">
                <a:solidFill>
                  <a:schemeClr val="bg1"/>
                </a:solidFill>
              </a:rPr>
              <a:t>wrong repeated tile.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1C13903-2EBE-77B5-1A27-CCAF1CD28FB6}"/>
              </a:ext>
            </a:extLst>
          </p:cNvPr>
          <p:cNvSpPr/>
          <p:nvPr/>
        </p:nvSpPr>
        <p:spPr>
          <a:xfrm>
            <a:off x="216934" y="4931196"/>
            <a:ext cx="6267841" cy="1209440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ADC7AAC-007F-6801-8FAE-22EAA5AAA727}"/>
              </a:ext>
            </a:extLst>
          </p:cNvPr>
          <p:cNvSpPr txBox="1"/>
          <p:nvPr/>
        </p:nvSpPr>
        <p:spPr>
          <a:xfrm>
            <a:off x="279913" y="4994733"/>
            <a:ext cx="243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Core Challenge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DB332B-AA81-F240-C7DF-B3BE9664CC10}"/>
              </a:ext>
            </a:extLst>
          </p:cNvPr>
          <p:cNvSpPr txBox="1"/>
          <p:nvPr/>
        </p:nvSpPr>
        <p:spPr>
          <a:xfrm>
            <a:off x="410545" y="5344920"/>
            <a:ext cx="6074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Navigation error is not simply a pixel-level positioning problem -- it can become a fundamental pattern-identification problem.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F5F46A0-0019-53F8-3EA1-06EA5096679A}"/>
              </a:ext>
            </a:extLst>
          </p:cNvPr>
          <p:cNvSpPr/>
          <p:nvPr/>
        </p:nvSpPr>
        <p:spPr>
          <a:xfrm>
            <a:off x="6615405" y="3193833"/>
            <a:ext cx="5243801" cy="3381130"/>
          </a:xfrm>
          <a:prstGeom prst="roundRect">
            <a:avLst>
              <a:gd name="adj" fmla="val 5923"/>
            </a:avLst>
          </a:prstGeom>
          <a:solidFill>
            <a:srgbClr val="002060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2FE5DC58-7E4A-2324-4112-F7D48CD8429C}"/>
              </a:ext>
            </a:extLst>
          </p:cNvPr>
          <p:cNvSpPr/>
          <p:nvPr/>
        </p:nvSpPr>
        <p:spPr>
          <a:xfrm>
            <a:off x="7649393" y="3295386"/>
            <a:ext cx="3097763" cy="297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989951F-E651-5F62-2614-6263513AB1E1}"/>
              </a:ext>
            </a:extLst>
          </p:cNvPr>
          <p:cNvSpPr/>
          <p:nvPr/>
        </p:nvSpPr>
        <p:spPr>
          <a:xfrm>
            <a:off x="8140539" y="6046656"/>
            <a:ext cx="2126141" cy="124750"/>
          </a:xfrm>
          <a:prstGeom prst="roundRect">
            <a:avLst>
              <a:gd name="adj" fmla="val 411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1CF6C7A-A6DD-B90F-977C-8EA0ACB4B23B}"/>
              </a:ext>
            </a:extLst>
          </p:cNvPr>
          <p:cNvSpPr/>
          <p:nvPr/>
        </p:nvSpPr>
        <p:spPr>
          <a:xfrm>
            <a:off x="8220269" y="395618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BD8E6E2-7027-ABFB-BAF0-0B049E702750}"/>
              </a:ext>
            </a:extLst>
          </p:cNvPr>
          <p:cNvSpPr/>
          <p:nvPr/>
        </p:nvSpPr>
        <p:spPr>
          <a:xfrm>
            <a:off x="8614398" y="395618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3464A0F-4349-38AD-645E-4D88959EE0B4}"/>
              </a:ext>
            </a:extLst>
          </p:cNvPr>
          <p:cNvSpPr/>
          <p:nvPr/>
        </p:nvSpPr>
        <p:spPr>
          <a:xfrm>
            <a:off x="9008527" y="395618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A024C20-704F-BBB2-BF7E-1A071F6A3108}"/>
              </a:ext>
            </a:extLst>
          </p:cNvPr>
          <p:cNvSpPr/>
          <p:nvPr/>
        </p:nvSpPr>
        <p:spPr>
          <a:xfrm>
            <a:off x="9402656" y="395618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AA010D59-6DC9-F78E-790D-89CA8FE1851B}"/>
              </a:ext>
            </a:extLst>
          </p:cNvPr>
          <p:cNvSpPr/>
          <p:nvPr/>
        </p:nvSpPr>
        <p:spPr>
          <a:xfrm>
            <a:off x="9796785" y="395618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C713C08-A08E-3B73-184E-0341DC7776B4}"/>
              </a:ext>
            </a:extLst>
          </p:cNvPr>
          <p:cNvSpPr/>
          <p:nvPr/>
        </p:nvSpPr>
        <p:spPr>
          <a:xfrm>
            <a:off x="8220269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BE5EA1BD-9258-3C02-83B7-D1C1B21B3FCD}"/>
              </a:ext>
            </a:extLst>
          </p:cNvPr>
          <p:cNvSpPr/>
          <p:nvPr/>
        </p:nvSpPr>
        <p:spPr>
          <a:xfrm>
            <a:off x="8614398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093D3EFD-2B57-68B0-8AF3-CFBA692C33A5}"/>
              </a:ext>
            </a:extLst>
          </p:cNvPr>
          <p:cNvSpPr/>
          <p:nvPr/>
        </p:nvSpPr>
        <p:spPr>
          <a:xfrm>
            <a:off x="9008527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B92082E8-346F-0B74-AB94-BC870B6C3200}"/>
              </a:ext>
            </a:extLst>
          </p:cNvPr>
          <p:cNvSpPr/>
          <p:nvPr/>
        </p:nvSpPr>
        <p:spPr>
          <a:xfrm>
            <a:off x="9402656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14FC7CD-E7AE-BDAC-A3FE-DF697F1E67F8}"/>
              </a:ext>
            </a:extLst>
          </p:cNvPr>
          <p:cNvSpPr/>
          <p:nvPr/>
        </p:nvSpPr>
        <p:spPr>
          <a:xfrm>
            <a:off x="9796785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EF2BFFF-0A31-672F-57B7-62D471214E0C}"/>
              </a:ext>
            </a:extLst>
          </p:cNvPr>
          <p:cNvSpPr/>
          <p:nvPr/>
        </p:nvSpPr>
        <p:spPr>
          <a:xfrm>
            <a:off x="8220269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17068BC-29C8-BE71-0495-72C7096B1385}"/>
              </a:ext>
            </a:extLst>
          </p:cNvPr>
          <p:cNvSpPr/>
          <p:nvPr/>
        </p:nvSpPr>
        <p:spPr>
          <a:xfrm>
            <a:off x="8614398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B2E4915-6FF3-65D0-6509-D0C5CF59EC8F}"/>
              </a:ext>
            </a:extLst>
          </p:cNvPr>
          <p:cNvSpPr/>
          <p:nvPr/>
        </p:nvSpPr>
        <p:spPr>
          <a:xfrm>
            <a:off x="9008527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C2E7B0B4-68EA-E85A-D2B0-7FDE6CA1CCC8}"/>
              </a:ext>
            </a:extLst>
          </p:cNvPr>
          <p:cNvSpPr/>
          <p:nvPr/>
        </p:nvSpPr>
        <p:spPr>
          <a:xfrm>
            <a:off x="9402656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156CDBBB-BA35-329D-60F8-7BCBDDF7912D}"/>
              </a:ext>
            </a:extLst>
          </p:cNvPr>
          <p:cNvSpPr/>
          <p:nvPr/>
        </p:nvSpPr>
        <p:spPr>
          <a:xfrm>
            <a:off x="9796785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33C1190E-3302-5762-6A10-3DEAFE10423C}"/>
              </a:ext>
            </a:extLst>
          </p:cNvPr>
          <p:cNvSpPr/>
          <p:nvPr/>
        </p:nvSpPr>
        <p:spPr>
          <a:xfrm>
            <a:off x="8220269" y="528498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E6016E1F-E865-A954-B638-28D96A2A344A}"/>
              </a:ext>
            </a:extLst>
          </p:cNvPr>
          <p:cNvSpPr/>
          <p:nvPr/>
        </p:nvSpPr>
        <p:spPr>
          <a:xfrm>
            <a:off x="8614398" y="528498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A4DF473B-22D7-9665-692A-D9FDECA9984C}"/>
              </a:ext>
            </a:extLst>
          </p:cNvPr>
          <p:cNvSpPr/>
          <p:nvPr/>
        </p:nvSpPr>
        <p:spPr>
          <a:xfrm>
            <a:off x="9008527" y="528498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9AB590B3-3BF9-8B9B-3ABE-FEC45B8066C1}"/>
              </a:ext>
            </a:extLst>
          </p:cNvPr>
          <p:cNvSpPr/>
          <p:nvPr/>
        </p:nvSpPr>
        <p:spPr>
          <a:xfrm>
            <a:off x="9402656" y="528498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DB8E2693-6DA6-542C-86B6-BFD3C38BFF59}"/>
              </a:ext>
            </a:extLst>
          </p:cNvPr>
          <p:cNvSpPr/>
          <p:nvPr/>
        </p:nvSpPr>
        <p:spPr>
          <a:xfrm>
            <a:off x="9796785" y="528498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0D9B5569-1B20-78A6-82B1-CB4C4FA6B25E}"/>
              </a:ext>
            </a:extLst>
          </p:cNvPr>
          <p:cNvSpPr/>
          <p:nvPr/>
        </p:nvSpPr>
        <p:spPr>
          <a:xfrm>
            <a:off x="7834747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C3C6C50F-19FC-E9DF-90DE-D9586C10BECB}"/>
              </a:ext>
            </a:extLst>
          </p:cNvPr>
          <p:cNvSpPr/>
          <p:nvPr/>
        </p:nvSpPr>
        <p:spPr>
          <a:xfrm>
            <a:off x="7834747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88E9463-F901-7402-C6E1-0F7AEE7D7055}"/>
              </a:ext>
            </a:extLst>
          </p:cNvPr>
          <p:cNvSpPr/>
          <p:nvPr/>
        </p:nvSpPr>
        <p:spPr>
          <a:xfrm>
            <a:off x="10189709" y="4398220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FD79483B-B49F-4852-FA8E-1440A4F3ED15}"/>
              </a:ext>
            </a:extLst>
          </p:cNvPr>
          <p:cNvSpPr/>
          <p:nvPr/>
        </p:nvSpPr>
        <p:spPr>
          <a:xfrm>
            <a:off x="10189709" y="4842943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B53B4F80-F040-7980-9B65-399B93905965}"/>
              </a:ext>
            </a:extLst>
          </p:cNvPr>
          <p:cNvSpPr/>
          <p:nvPr/>
        </p:nvSpPr>
        <p:spPr>
          <a:xfrm>
            <a:off x="8614398" y="3504188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70070AB6-3925-A551-B687-BEEBD06FC3C4}"/>
              </a:ext>
            </a:extLst>
          </p:cNvPr>
          <p:cNvSpPr/>
          <p:nvPr/>
        </p:nvSpPr>
        <p:spPr>
          <a:xfrm>
            <a:off x="9008527" y="3504188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DAF2D2B8-780C-E271-E5A9-1AB5B8BA329E}"/>
              </a:ext>
            </a:extLst>
          </p:cNvPr>
          <p:cNvSpPr/>
          <p:nvPr/>
        </p:nvSpPr>
        <p:spPr>
          <a:xfrm>
            <a:off x="9402656" y="3504188"/>
            <a:ext cx="341441" cy="4012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AFB0F507-130C-B9DB-9BAD-2BB89DEFEA16}"/>
              </a:ext>
            </a:extLst>
          </p:cNvPr>
          <p:cNvSpPr/>
          <p:nvPr/>
        </p:nvSpPr>
        <p:spPr>
          <a:xfrm>
            <a:off x="8220269" y="3982067"/>
            <a:ext cx="306511" cy="196074"/>
          </a:xfrm>
          <a:prstGeom prst="roundRect">
            <a:avLst>
              <a:gd name="adj" fmla="val 26383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1" name="Graphic 120" descr="Close with solid fill">
            <a:extLst>
              <a:ext uri="{FF2B5EF4-FFF2-40B4-BE49-F238E27FC236}">
                <a16:creationId xmlns:a16="http://schemas.microsoft.com/office/drawing/2014/main" id="{1B1F8AAB-6993-F8D2-FC5B-9280040D1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25147">
            <a:off x="8251378" y="4018708"/>
            <a:ext cx="122790" cy="122790"/>
          </a:xfrm>
          <a:prstGeom prst="rect">
            <a:avLst/>
          </a:prstGeom>
        </p:spPr>
      </p:pic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9D74D33-04B6-4C1C-1C96-87C14F78FC78}"/>
              </a:ext>
            </a:extLst>
          </p:cNvPr>
          <p:cNvSpPr/>
          <p:nvPr/>
        </p:nvSpPr>
        <p:spPr>
          <a:xfrm>
            <a:off x="9085580" y="4598828"/>
            <a:ext cx="264388" cy="181558"/>
          </a:xfrm>
          <a:prstGeom prst="roundRect">
            <a:avLst>
              <a:gd name="adj" fmla="val 27859"/>
            </a:avLst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4" name="Graphic 123" descr="Star with solid fill">
            <a:extLst>
              <a:ext uri="{FF2B5EF4-FFF2-40B4-BE49-F238E27FC236}">
                <a16:creationId xmlns:a16="http://schemas.microsoft.com/office/drawing/2014/main" id="{62A9B277-3D2A-2A1F-B0E8-9D7DEA593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6364" y="4097754"/>
            <a:ext cx="89585" cy="89585"/>
          </a:xfrm>
          <a:prstGeom prst="rect">
            <a:avLst/>
          </a:prstGeom>
        </p:spPr>
      </p:pic>
      <p:sp>
        <p:nvSpPr>
          <p:cNvPr id="125" name="Oval 124">
            <a:extLst>
              <a:ext uri="{FF2B5EF4-FFF2-40B4-BE49-F238E27FC236}">
                <a16:creationId xmlns:a16="http://schemas.microsoft.com/office/drawing/2014/main" id="{97DE6274-EB84-12B1-FFE9-87EC1AC55334}"/>
              </a:ext>
            </a:extLst>
          </p:cNvPr>
          <p:cNvSpPr/>
          <p:nvPr/>
        </p:nvSpPr>
        <p:spPr>
          <a:xfrm>
            <a:off x="9041130" y="4467860"/>
            <a:ext cx="88900" cy="87461"/>
          </a:xfrm>
          <a:prstGeom prst="ellips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9E1C4B2A-9357-1F60-FA5A-87BFF58F2EAB}"/>
              </a:ext>
            </a:extLst>
          </p:cNvPr>
          <p:cNvSpPr/>
          <p:nvPr/>
        </p:nvSpPr>
        <p:spPr>
          <a:xfrm>
            <a:off x="9217774" y="4669607"/>
            <a:ext cx="88900" cy="8746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7" name="Graphic 126" descr="Close with solid fill">
            <a:extLst>
              <a:ext uri="{FF2B5EF4-FFF2-40B4-BE49-F238E27FC236}">
                <a16:creationId xmlns:a16="http://schemas.microsoft.com/office/drawing/2014/main" id="{0CC0A7C5-C22F-A0A9-4A23-9F747FE1B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25147">
            <a:off x="9020705" y="4447049"/>
            <a:ext cx="129082" cy="129082"/>
          </a:xfrm>
          <a:prstGeom prst="rect">
            <a:avLst/>
          </a:prstGeom>
        </p:spPr>
      </p:pic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154AA9B-A8A3-652D-C707-1600FDDA766B}"/>
              </a:ext>
            </a:extLst>
          </p:cNvPr>
          <p:cNvCxnSpPr>
            <a:cxnSpLocks/>
          </p:cNvCxnSpPr>
          <p:nvPr/>
        </p:nvCxnSpPr>
        <p:spPr>
          <a:xfrm>
            <a:off x="9128874" y="4555321"/>
            <a:ext cx="99128" cy="110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A1CBE75-0A81-F234-1B59-B1061E38A4A7}"/>
              </a:ext>
            </a:extLst>
          </p:cNvPr>
          <p:cNvCxnSpPr>
            <a:cxnSpLocks/>
          </p:cNvCxnSpPr>
          <p:nvPr/>
        </p:nvCxnSpPr>
        <p:spPr>
          <a:xfrm>
            <a:off x="8363044" y="4109245"/>
            <a:ext cx="645483" cy="36550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E09F2892-8D00-429B-8BBE-EA84F2FC03F5}"/>
              </a:ext>
            </a:extLst>
          </p:cNvPr>
          <p:cNvSpPr/>
          <p:nvPr/>
        </p:nvSpPr>
        <p:spPr>
          <a:xfrm>
            <a:off x="9358632" y="4380198"/>
            <a:ext cx="565148" cy="248069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EB7B158-A364-D539-476E-D6B0415BB54D}"/>
              </a:ext>
            </a:extLst>
          </p:cNvPr>
          <p:cNvSpPr txBox="1"/>
          <p:nvPr/>
        </p:nvSpPr>
        <p:spPr>
          <a:xfrm>
            <a:off x="9353554" y="4374351"/>
            <a:ext cx="5951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Missed</a:t>
            </a:r>
            <a:endParaRPr lang="en-IN" sz="105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03C8F3E-31F0-27FF-4F49-4897F9D08E85}"/>
              </a:ext>
            </a:extLst>
          </p:cNvPr>
          <p:cNvSpPr txBox="1"/>
          <p:nvPr/>
        </p:nvSpPr>
        <p:spPr>
          <a:xfrm>
            <a:off x="10525611" y="6171406"/>
            <a:ext cx="1464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Motion Stage</a:t>
            </a:r>
            <a:endParaRPr lang="en-IN" sz="1400" dirty="0">
              <a:solidFill>
                <a:schemeClr val="bg1"/>
              </a:solidFill>
            </a:endParaRP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EDA62838-9212-54F0-F8FC-C96CD6CF6E1D}"/>
              </a:ext>
            </a:extLst>
          </p:cNvPr>
          <p:cNvCxnSpPr>
            <a:cxnSpLocks/>
            <a:stCxn id="150" idx="1"/>
          </p:cNvCxnSpPr>
          <p:nvPr/>
        </p:nvCxnSpPr>
        <p:spPr>
          <a:xfrm flipH="1" flipV="1">
            <a:off x="10310204" y="6104819"/>
            <a:ext cx="215407" cy="22047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BB62661E-8A2C-1AD2-0A73-C797651F9DA8}"/>
              </a:ext>
            </a:extLst>
          </p:cNvPr>
          <p:cNvSpPr/>
          <p:nvPr/>
        </p:nvSpPr>
        <p:spPr>
          <a:xfrm>
            <a:off x="7030720" y="3956180"/>
            <a:ext cx="1068046" cy="23115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7CAB8E2-C471-DF13-73D6-9C41D6F2870B}"/>
              </a:ext>
            </a:extLst>
          </p:cNvPr>
          <p:cNvSpPr txBox="1"/>
          <p:nvPr/>
        </p:nvSpPr>
        <p:spPr>
          <a:xfrm>
            <a:off x="6996541" y="3931830"/>
            <a:ext cx="1136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Reference Site</a:t>
            </a:r>
            <a:endParaRPr lang="en-IN" sz="1100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A6E00516-CD84-251F-EEB4-48137C4C7BA4}"/>
              </a:ext>
            </a:extLst>
          </p:cNvPr>
          <p:cNvGrpSpPr/>
          <p:nvPr/>
        </p:nvGrpSpPr>
        <p:grpSpPr>
          <a:xfrm>
            <a:off x="10348794" y="3598483"/>
            <a:ext cx="1216566" cy="553998"/>
            <a:chOff x="10180841" y="3383878"/>
            <a:chExt cx="1216566" cy="553998"/>
          </a:xfrm>
        </p:grpSpPr>
        <p:sp>
          <p:nvSpPr>
            <p:cNvPr id="158" name="Rectangle: Rounded Corners 157">
              <a:extLst>
                <a:ext uri="{FF2B5EF4-FFF2-40B4-BE49-F238E27FC236}">
                  <a16:creationId xmlns:a16="http://schemas.microsoft.com/office/drawing/2014/main" id="{53671E9B-50DF-EDAA-70C1-4D8EFD737836}"/>
                </a:ext>
              </a:extLst>
            </p:cNvPr>
            <p:cNvSpPr/>
            <p:nvPr/>
          </p:nvSpPr>
          <p:spPr>
            <a:xfrm>
              <a:off x="10180841" y="3404531"/>
              <a:ext cx="1216566" cy="521098"/>
            </a:xfrm>
            <a:prstGeom prst="roundRect">
              <a:avLst>
                <a:gd name="adj" fmla="val 10322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208A40E-4A50-8092-67DE-574811E45A1E}"/>
                </a:ext>
              </a:extLst>
            </p:cNvPr>
            <p:cNvSpPr txBox="1"/>
            <p:nvPr/>
          </p:nvSpPr>
          <p:spPr>
            <a:xfrm>
              <a:off x="10430825" y="3383878"/>
              <a:ext cx="96658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Ideal Target</a:t>
              </a:r>
            </a:p>
            <a:p>
              <a:br>
                <a:rPr lang="en-US" sz="1000" dirty="0"/>
              </a:br>
              <a:r>
                <a:rPr lang="en-US" sz="1000" dirty="0"/>
                <a:t>Actual Landing</a:t>
              </a:r>
              <a:endParaRPr lang="en-IN" sz="1000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B4113B7-2DE6-4A31-852F-09F9866B7ECE}"/>
                </a:ext>
              </a:extLst>
            </p:cNvPr>
            <p:cNvSpPr/>
            <p:nvPr/>
          </p:nvSpPr>
          <p:spPr>
            <a:xfrm>
              <a:off x="10279473" y="3716280"/>
              <a:ext cx="161912" cy="15659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B3E98B8E-899D-DE4D-911A-CC9D9184507E}"/>
                </a:ext>
              </a:extLst>
            </p:cNvPr>
            <p:cNvSpPr/>
            <p:nvPr/>
          </p:nvSpPr>
          <p:spPr>
            <a:xfrm>
              <a:off x="10279473" y="3458926"/>
              <a:ext cx="161912" cy="148209"/>
            </a:xfrm>
            <a:prstGeom prst="ellips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07922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843B-C751-8AAD-AAFB-8FC17A3F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AAAFE8-CAE5-D9D0-06B0-0E931565D6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160F1AB-44F6-6C82-3EF8-593F05654A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E829FAA0-7321-E650-7C85-6A9292896809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B68D7-8E39-F693-45B3-86B451969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AF7FA7F8-DF8E-EF5F-5C52-AE07C040607D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EB03D0B8-D1F0-CE45-B80E-5861D4AD75B5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4168450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5B5B3BF-889E-8D1D-FD36-570A21BBE53C}"/>
              </a:ext>
            </a:extLst>
          </p:cNvPr>
          <p:cNvSpPr txBox="1"/>
          <p:nvPr/>
        </p:nvSpPr>
        <p:spPr>
          <a:xfrm>
            <a:off x="422208" y="714557"/>
            <a:ext cx="1175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Proposed End-to-End Workflow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FB8543-16B8-C6C4-538A-53A1A2CE8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73" y="887129"/>
            <a:ext cx="10621508" cy="641791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9A27EB-BA6F-FCD2-B09D-9FBEDE4FCA0B}"/>
              </a:ext>
            </a:extLst>
          </p:cNvPr>
          <p:cNvSpPr/>
          <p:nvPr/>
        </p:nvSpPr>
        <p:spPr>
          <a:xfrm>
            <a:off x="4373880" y="3202939"/>
            <a:ext cx="967740" cy="213355"/>
          </a:xfrm>
          <a:prstGeom prst="roundRect">
            <a:avLst/>
          </a:prstGeom>
          <a:solidFill>
            <a:srgbClr val="070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ABD15B-4C2D-026D-75FC-01FB8F0B2AD0}"/>
              </a:ext>
            </a:extLst>
          </p:cNvPr>
          <p:cNvSpPr/>
          <p:nvPr/>
        </p:nvSpPr>
        <p:spPr>
          <a:xfrm>
            <a:off x="5027301" y="3041268"/>
            <a:ext cx="696885" cy="166751"/>
          </a:xfrm>
          <a:prstGeom prst="roundRect">
            <a:avLst/>
          </a:prstGeom>
          <a:solidFill>
            <a:srgbClr val="0705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DC4AA7-ABDF-856F-8021-A25FDDEF677A}"/>
              </a:ext>
            </a:extLst>
          </p:cNvPr>
          <p:cNvSpPr txBox="1"/>
          <p:nvPr/>
        </p:nvSpPr>
        <p:spPr>
          <a:xfrm>
            <a:off x="4954830" y="2993838"/>
            <a:ext cx="673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( ±3-4° )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5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297B-633F-7123-D628-9A5814AF1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797BE8-1F67-BD7F-FBFE-CBB3F341690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ED2B245-86FB-128F-44A2-68EC419B28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B50569A9-8E07-D740-6D7D-AEB06CF08071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4928E-AAEE-E2B2-2DA5-E1BC46407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037FED63-76E6-2096-FB54-F701D263283D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E06B0CC-9276-3635-C331-8237D661A80D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4811021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6F17A8-1B2A-6F08-98BB-931D73CC7EAB}"/>
              </a:ext>
            </a:extLst>
          </p:cNvPr>
          <p:cNvSpPr txBox="1"/>
          <p:nvPr/>
        </p:nvSpPr>
        <p:spPr>
          <a:xfrm>
            <a:off x="422208" y="714557"/>
            <a:ext cx="1175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DRAM/Fin-FET Synthetic Data Design 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F45FA5-A94C-FD6C-B542-45750052B221}"/>
              </a:ext>
            </a:extLst>
          </p:cNvPr>
          <p:cNvSpPr/>
          <p:nvPr/>
        </p:nvSpPr>
        <p:spPr>
          <a:xfrm>
            <a:off x="216934" y="1456477"/>
            <a:ext cx="11758407" cy="854018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B1662-48F8-07D0-B2DD-7062DF3154B1}"/>
              </a:ext>
            </a:extLst>
          </p:cNvPr>
          <p:cNvSpPr txBox="1"/>
          <p:nvPr/>
        </p:nvSpPr>
        <p:spPr>
          <a:xfrm>
            <a:off x="292823" y="1475049"/>
            <a:ext cx="233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Synthetic Data ?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6E8791-EE21-D1B6-351B-DE5292C69895}"/>
              </a:ext>
            </a:extLst>
          </p:cNvPr>
          <p:cNvSpPr txBox="1"/>
          <p:nvPr/>
        </p:nvSpPr>
        <p:spPr>
          <a:xfrm>
            <a:off x="422208" y="1844380"/>
            <a:ext cx="11109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The problem requires realistic semiconductor structures while avoiding dependence on confidential fab data.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055E403-DE07-5219-AA22-ED54D259835A}"/>
              </a:ext>
            </a:extLst>
          </p:cNvPr>
          <p:cNvSpPr/>
          <p:nvPr/>
        </p:nvSpPr>
        <p:spPr>
          <a:xfrm>
            <a:off x="216934" y="2446352"/>
            <a:ext cx="4263626" cy="1810688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1D8A41-1CC1-EE55-AFB3-6001CFE2E219}"/>
              </a:ext>
            </a:extLst>
          </p:cNvPr>
          <p:cNvSpPr txBox="1"/>
          <p:nvPr/>
        </p:nvSpPr>
        <p:spPr>
          <a:xfrm>
            <a:off x="263218" y="2549930"/>
            <a:ext cx="261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DRAM Style Structures 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E05E2-E222-312E-B0DB-BBFA2225D225}"/>
              </a:ext>
            </a:extLst>
          </p:cNvPr>
          <p:cNvSpPr txBox="1"/>
          <p:nvPr/>
        </p:nvSpPr>
        <p:spPr>
          <a:xfrm>
            <a:off x="431538" y="2967168"/>
            <a:ext cx="3928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| Periodic horizontal </a:t>
            </a:r>
            <a:r>
              <a:rPr lang="en-IN" b="1" dirty="0">
                <a:solidFill>
                  <a:schemeClr val="bg1"/>
                </a:solidFill>
              </a:rPr>
              <a:t>word lines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| Vertical </a:t>
            </a:r>
            <a:r>
              <a:rPr lang="en-IN" b="1" dirty="0">
                <a:solidFill>
                  <a:schemeClr val="bg1"/>
                </a:solidFill>
              </a:rPr>
              <a:t>bit lines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| Contact/via structures at intersections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| Dense repeated geometry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4F0CD6-ECCF-1F40-EAD9-4691179CE430}"/>
              </a:ext>
            </a:extLst>
          </p:cNvPr>
          <p:cNvSpPr/>
          <p:nvPr/>
        </p:nvSpPr>
        <p:spPr>
          <a:xfrm>
            <a:off x="216934" y="4407233"/>
            <a:ext cx="4263626" cy="1459082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8FB140-52D2-7CEE-7B5A-D08D9D9838A8}"/>
              </a:ext>
            </a:extLst>
          </p:cNvPr>
          <p:cNvSpPr txBox="1"/>
          <p:nvPr/>
        </p:nvSpPr>
        <p:spPr>
          <a:xfrm>
            <a:off x="292823" y="4503647"/>
            <a:ext cx="261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Fin-FET Style Structures 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C9195-CA10-F3E5-CE21-1C04CFEED15A}"/>
              </a:ext>
            </a:extLst>
          </p:cNvPr>
          <p:cNvSpPr txBox="1"/>
          <p:nvPr/>
        </p:nvSpPr>
        <p:spPr>
          <a:xfrm>
            <a:off x="384574" y="4869595"/>
            <a:ext cx="3928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| Dense parallel </a:t>
            </a:r>
            <a:r>
              <a:rPr lang="en-IN" b="1" dirty="0">
                <a:solidFill>
                  <a:schemeClr val="bg1"/>
                </a:solidFill>
              </a:rPr>
              <a:t>fin lines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| Horizontal gate structures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| Repetitive nanoscale geometry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2A1C87-8859-FC8D-8292-7DD95B28F620}"/>
              </a:ext>
            </a:extLst>
          </p:cNvPr>
          <p:cNvSpPr/>
          <p:nvPr/>
        </p:nvSpPr>
        <p:spPr>
          <a:xfrm>
            <a:off x="4627878" y="4822224"/>
            <a:ext cx="7366001" cy="1351700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AB56DB-A4A4-0027-D92E-FEA2E8CA4319}"/>
              </a:ext>
            </a:extLst>
          </p:cNvPr>
          <p:cNvSpPr txBox="1"/>
          <p:nvPr/>
        </p:nvSpPr>
        <p:spPr>
          <a:xfrm>
            <a:off x="4694768" y="4872979"/>
            <a:ext cx="3866942" cy="312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Canonical Datasets 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B994C3-8FE8-75A0-141B-B98AA7C38CD1}"/>
              </a:ext>
            </a:extLst>
          </p:cNvPr>
          <p:cNvSpPr txBox="1"/>
          <p:nvPr/>
        </p:nvSpPr>
        <p:spPr>
          <a:xfrm>
            <a:off x="4865134" y="5168271"/>
            <a:ext cx="5602039" cy="78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| 800 reference/search pairs  | Defect injection </a:t>
            </a:r>
          </a:p>
          <a:p>
            <a:r>
              <a:rPr lang="en-IN" dirty="0">
                <a:solidFill>
                  <a:schemeClr val="bg1"/>
                </a:solidFill>
              </a:rPr>
              <a:t>| Full degradation set              | Variable scale: 9×–11×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| Seed = 2026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0C6E01-4E2E-E123-062A-BE6C16FA3966}"/>
              </a:ext>
            </a:extLst>
          </p:cNvPr>
          <p:cNvSpPr/>
          <p:nvPr/>
        </p:nvSpPr>
        <p:spPr>
          <a:xfrm>
            <a:off x="4617719" y="2451425"/>
            <a:ext cx="7376160" cy="2214876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42DED2-3E1B-A080-B3FA-8A678B540481}"/>
              </a:ext>
            </a:extLst>
          </p:cNvPr>
          <p:cNvSpPr txBox="1"/>
          <p:nvPr/>
        </p:nvSpPr>
        <p:spPr>
          <a:xfrm>
            <a:off x="4727224" y="2540732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Important innovation: Gap-collapse defect injection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253CF9-E5C7-520D-5096-FB511F66A5CD}"/>
              </a:ext>
            </a:extLst>
          </p:cNvPr>
          <p:cNvSpPr txBox="1"/>
          <p:nvPr/>
        </p:nvSpPr>
        <p:spPr>
          <a:xfrm>
            <a:off x="4815840" y="2845521"/>
            <a:ext cx="71129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| Adjacent DRAM lines / Fin-FET fins can be partially fused to deliberately       break perfect periodicity.  </a:t>
            </a:r>
            <a:r>
              <a:rPr lang="en-IN" i="1" dirty="0" err="1">
                <a:solidFill>
                  <a:schemeClr val="bg1"/>
                </a:solidFill>
              </a:rPr>
              <a:t>collapse_prob</a:t>
            </a:r>
            <a:r>
              <a:rPr lang="en-IN" i="1" dirty="0">
                <a:solidFill>
                  <a:schemeClr val="bg1"/>
                </a:solidFill>
              </a:rPr>
              <a:t> = 0.12</a:t>
            </a:r>
          </a:p>
          <a:p>
            <a:r>
              <a:rPr lang="en-IN" dirty="0">
                <a:solidFill>
                  <a:schemeClr val="bg1"/>
                </a:solidFill>
              </a:rPr>
              <a:t>| This reduced the ambiguity between repeated tiles and became the single largest accuracy improvement.</a:t>
            </a:r>
          </a:p>
          <a:p>
            <a:r>
              <a:rPr lang="en-IN" dirty="0">
                <a:solidFill>
                  <a:schemeClr val="bg1"/>
                </a:solidFill>
              </a:rPr>
              <a:t>| Classical accuracy increased from approximately 1–5% → 17.5–24% @5px, a 5–8× improvement from defect injection alone.</a:t>
            </a:r>
          </a:p>
        </p:txBody>
      </p:sp>
    </p:spTree>
    <p:extLst>
      <p:ext uri="{BB962C8B-B14F-4D97-AF65-F5344CB8AC3E}">
        <p14:creationId xmlns:p14="http://schemas.microsoft.com/office/powerpoint/2010/main" val="279445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1762-D8D7-34E0-5209-19FBF741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CD208B-6676-2CB4-4530-777E31AFB18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006D2E4-EFE7-5A64-D982-C1E4B08D7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129FEA62-990E-7CC9-C9D6-DA581792128C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681E3-D779-3AA1-C629-F433CCD98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281B5A2F-5649-F381-7D1B-8F6BB09F70C2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A3CFDFA-5CDE-05B1-728E-27A32B1DC848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6790355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4FCF89-E2E4-3CF9-3594-6D48E9C46597}"/>
              </a:ext>
            </a:extLst>
          </p:cNvPr>
          <p:cNvSpPr txBox="1"/>
          <p:nvPr/>
        </p:nvSpPr>
        <p:spPr>
          <a:xfrm>
            <a:off x="422208" y="714557"/>
            <a:ext cx="11758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Noise, Blur, Scale &amp; Rotation Modelling with Citations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BA56A02-5168-4796-6149-8F4DB37D8A05}"/>
              </a:ext>
            </a:extLst>
          </p:cNvPr>
          <p:cNvGrpSpPr/>
          <p:nvPr/>
        </p:nvGrpSpPr>
        <p:grpSpPr>
          <a:xfrm>
            <a:off x="120103" y="1518148"/>
            <a:ext cx="423464" cy="409652"/>
            <a:chOff x="271480" y="1542459"/>
            <a:chExt cx="470651" cy="461665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A7610429-A60A-247C-7959-735FC996FFA4}"/>
                </a:ext>
              </a:extLst>
            </p:cNvPr>
            <p:cNvSpPr/>
            <p:nvPr/>
          </p:nvSpPr>
          <p:spPr>
            <a:xfrm>
              <a:off x="271480" y="1542459"/>
              <a:ext cx="470651" cy="461665"/>
            </a:xfrm>
            <a:prstGeom prst="ellipse">
              <a:avLst/>
            </a:prstGeom>
            <a:solidFill>
              <a:srgbClr val="273383">
                <a:alpha val="50000"/>
              </a:srgbClr>
            </a:solidFill>
            <a:ln w="25400">
              <a:solidFill>
                <a:srgbClr val="AEFF8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8" name="Image 4" descr="preencoded.png">
              <a:extLst>
                <a:ext uri="{FF2B5EF4-FFF2-40B4-BE49-F238E27FC236}">
                  <a16:creationId xmlns:a16="http://schemas.microsoft.com/office/drawing/2014/main" id="{30952564-57E7-A8F6-4B70-AF3E59FCB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80" r="-80"/>
            <a:stretch/>
          </p:blipFill>
          <p:spPr>
            <a:xfrm>
              <a:off x="383590" y="1669855"/>
              <a:ext cx="246104" cy="196569"/>
            </a:xfrm>
            <a:prstGeom prst="rect">
              <a:avLst/>
            </a:prstGeom>
          </p:spPr>
        </p:pic>
      </p:grpSp>
      <p:sp>
        <p:nvSpPr>
          <p:cNvPr id="30" name="Text 15">
            <a:extLst>
              <a:ext uri="{FF2B5EF4-FFF2-40B4-BE49-F238E27FC236}">
                <a16:creationId xmlns:a16="http://schemas.microsoft.com/office/drawing/2014/main" id="{C5ACE20C-A991-D57B-72AB-DD30C6BA07A2}"/>
              </a:ext>
            </a:extLst>
          </p:cNvPr>
          <p:cNvSpPr txBox="1"/>
          <p:nvPr/>
        </p:nvSpPr>
        <p:spPr>
          <a:xfrm>
            <a:off x="653386" y="1577433"/>
            <a:ext cx="2710875" cy="28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600" b="1" dirty="0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DF2DDBF9-F538-7464-7F98-BE0988849AE4}"/>
              </a:ext>
            </a:extLst>
          </p:cNvPr>
          <p:cNvSpPr/>
          <p:nvPr/>
        </p:nvSpPr>
        <p:spPr>
          <a:xfrm>
            <a:off x="569412" y="1977775"/>
            <a:ext cx="11253804" cy="1830630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CE03CFFF-CD46-2819-7B53-497A202E9AE4}"/>
              </a:ext>
            </a:extLst>
          </p:cNvPr>
          <p:cNvSpPr/>
          <p:nvPr/>
        </p:nvSpPr>
        <p:spPr>
          <a:xfrm>
            <a:off x="731261" y="2445034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B8C42CA4-3A81-122B-63EA-C8AD4EDB96C3}"/>
              </a:ext>
            </a:extLst>
          </p:cNvPr>
          <p:cNvSpPr txBox="1"/>
          <p:nvPr/>
        </p:nvSpPr>
        <p:spPr>
          <a:xfrm>
            <a:off x="731261" y="2139624"/>
            <a:ext cx="9277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Sensor Noise — Poisson-Gaussian Signal-Dependent Model        DOI : https://doi.org/10.1109/TIP.2008.2001399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CA454C81-4173-04A8-4627-4603AE897291}"/>
              </a:ext>
            </a:extLst>
          </p:cNvPr>
          <p:cNvSpPr/>
          <p:nvPr/>
        </p:nvSpPr>
        <p:spPr>
          <a:xfrm>
            <a:off x="731261" y="287388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E14151A1-6564-DBB7-972C-CD8A434B6BF8}"/>
              </a:ext>
            </a:extLst>
          </p:cNvPr>
          <p:cNvSpPr txBox="1"/>
          <p:nvPr/>
        </p:nvSpPr>
        <p:spPr>
          <a:xfrm>
            <a:off x="731261" y="2568478"/>
            <a:ext cx="1082459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SEM Charging Artifacts                                                                         DOI : https://doi.org/10.1063/1.336493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D9F111FA-6C9E-F9CF-360A-49FA3D16826D}"/>
              </a:ext>
            </a:extLst>
          </p:cNvPr>
          <p:cNvSpPr txBox="1"/>
          <p:nvPr/>
        </p:nvSpPr>
        <p:spPr>
          <a:xfrm>
            <a:off x="731261" y="2996417"/>
            <a:ext cx="10983220" cy="254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 dirty="0">
                <a:solidFill>
                  <a:schemeClr val="bg1"/>
                </a:solidFill>
              </a:rPr>
              <a:t>DRAM / Fin-FET Pitch and Structure Scaling                                     DOI : https://irds.ieee.org/images/files/pdf/2023/2023IRDS_MET.pdf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C3A7CF59-8137-BA2F-4DB0-760406481DD1}"/>
              </a:ext>
            </a:extLst>
          </p:cNvPr>
          <p:cNvSpPr/>
          <p:nvPr/>
        </p:nvSpPr>
        <p:spPr>
          <a:xfrm>
            <a:off x="731260" y="337040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1074D163-4321-6C5F-41DF-5C85B8B39BF3}"/>
              </a:ext>
            </a:extLst>
          </p:cNvPr>
          <p:cNvSpPr/>
          <p:nvPr/>
        </p:nvSpPr>
        <p:spPr>
          <a:xfrm>
            <a:off x="746696" y="379926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8B0B8D-C950-1FF8-B998-2B6C9BEC73B6}"/>
              </a:ext>
            </a:extLst>
          </p:cNvPr>
          <p:cNvSpPr txBox="1"/>
          <p:nvPr/>
        </p:nvSpPr>
        <p:spPr>
          <a:xfrm>
            <a:off x="653386" y="3379551"/>
            <a:ext cx="11076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Wafer Stage Drift and Overlay Error                                                   DOI : https://doi.org/10.1117/12.2045715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2713754-4147-F972-F445-42E5D5412436}"/>
              </a:ext>
            </a:extLst>
          </p:cNvPr>
          <p:cNvSpPr/>
          <p:nvPr/>
        </p:nvSpPr>
        <p:spPr>
          <a:xfrm>
            <a:off x="589732" y="3936900"/>
            <a:ext cx="11253804" cy="2760191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C8E109-B6C0-127A-3B79-7D312BB3D276}"/>
              </a:ext>
            </a:extLst>
          </p:cNvPr>
          <p:cNvSpPr txBox="1"/>
          <p:nvPr/>
        </p:nvSpPr>
        <p:spPr>
          <a:xfrm>
            <a:off x="683866" y="3993868"/>
            <a:ext cx="286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Key physical model 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3C033B-5ABC-515B-5E2A-FEA93052067F}"/>
              </a:ext>
            </a:extLst>
          </p:cNvPr>
          <p:cNvSpPr txBox="1"/>
          <p:nvPr/>
        </p:nvSpPr>
        <p:spPr>
          <a:xfrm>
            <a:off x="717306" y="4330559"/>
            <a:ext cx="6842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| For Poisson-Gaussian noise:  σ(x) = √(</a:t>
            </a:r>
            <a:r>
              <a:rPr lang="en-IN" dirty="0" err="1">
                <a:solidFill>
                  <a:schemeClr val="bg1"/>
                </a:solidFill>
              </a:rPr>
              <a:t>a·x</a:t>
            </a:r>
            <a:r>
              <a:rPr lang="en-IN" dirty="0">
                <a:solidFill>
                  <a:schemeClr val="bg1"/>
                </a:solidFill>
              </a:rPr>
              <a:t> + b)</a:t>
            </a:r>
          </a:p>
          <a:p>
            <a:endParaRPr lang="en-IN" sz="6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ECBEEE-0D6B-587D-63C1-3DF2FFF20D51}"/>
              </a:ext>
            </a:extLst>
          </p:cNvPr>
          <p:cNvSpPr txBox="1"/>
          <p:nvPr/>
        </p:nvSpPr>
        <p:spPr>
          <a:xfrm>
            <a:off x="846240" y="4724361"/>
            <a:ext cx="697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This models noise as dependent on the underlying signal instead of using only constant additive Gaussian noise.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C9C3DC-EF38-1590-898B-42C0A448685C}"/>
              </a:ext>
            </a:extLst>
          </p:cNvPr>
          <p:cNvSpPr txBox="1"/>
          <p:nvPr/>
        </p:nvSpPr>
        <p:spPr>
          <a:xfrm>
            <a:off x="703542" y="5367293"/>
            <a:ext cx="1109684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Important scope limitation :</a:t>
            </a:r>
          </a:p>
          <a:p>
            <a:endParaRPr lang="en-IN" sz="1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Astigmatism and spot-size blur are </a:t>
            </a:r>
            <a:r>
              <a:rPr lang="en-IN" b="1" dirty="0">
                <a:solidFill>
                  <a:schemeClr val="bg1"/>
                </a:solidFill>
              </a:rPr>
              <a:t>not separately modelled as distinct physical effects</a:t>
            </a:r>
            <a:r>
              <a:rPr lang="en-IN" dirty="0">
                <a:solidFill>
                  <a:schemeClr val="bg1"/>
                </a:solidFill>
              </a:rPr>
              <a:t>; they are represented through the general blur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This is explicitly documented as a scope decision rather than being claimed as full physical modelling.</a:t>
            </a:r>
          </a:p>
        </p:txBody>
      </p:sp>
    </p:spTree>
    <p:extLst>
      <p:ext uri="{BB962C8B-B14F-4D97-AF65-F5344CB8AC3E}">
        <p14:creationId xmlns:p14="http://schemas.microsoft.com/office/powerpoint/2010/main" val="44705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DF4F-B9A3-A3A4-E0B8-41C248D7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3A4096-F0A0-793E-36A3-3DA6D6F5226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8078637-8317-6F6F-B712-3EE0E8BA46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E5ABE3E9-D403-8023-6929-DECCCDE93C91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2669C-73E0-32A5-31FF-EE0FC6BF1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853C3171-77DC-E891-659B-377A7B025F2E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1AD61AD-D7C3-4F40-CA66-30AA7003B141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4943101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F9B7B72-D3B9-7755-3812-B4D1925FBDCD}"/>
              </a:ext>
            </a:extLst>
          </p:cNvPr>
          <p:cNvSpPr txBox="1"/>
          <p:nvPr/>
        </p:nvSpPr>
        <p:spPr>
          <a:xfrm>
            <a:off x="422209" y="7145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Localization Method and Decision Rule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3A1257-837E-E02B-BC6C-8EA3B0C84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25" y="982797"/>
            <a:ext cx="7020511" cy="633381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B93483-AB3C-A8CE-9344-A1D149157B2C}"/>
              </a:ext>
            </a:extLst>
          </p:cNvPr>
          <p:cNvSpPr/>
          <p:nvPr/>
        </p:nvSpPr>
        <p:spPr>
          <a:xfrm>
            <a:off x="7172959" y="2214882"/>
            <a:ext cx="4802113" cy="1304330"/>
          </a:xfrm>
          <a:prstGeom prst="roundRect">
            <a:avLst>
              <a:gd name="adj" fmla="val 6569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774D4-1BDA-CC1C-DBEF-9EA747ADD801}"/>
              </a:ext>
            </a:extLst>
          </p:cNvPr>
          <p:cNvSpPr txBox="1"/>
          <p:nvPr/>
        </p:nvSpPr>
        <p:spPr>
          <a:xfrm>
            <a:off x="7217615" y="2287509"/>
            <a:ext cx="428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Decision Rule in Classical CV Approach :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099662-67B3-CA16-7968-D0B0361C1A90}"/>
              </a:ext>
            </a:extLst>
          </p:cNvPr>
          <p:cNvSpPr txBox="1"/>
          <p:nvPr/>
        </p:nvSpPr>
        <p:spPr>
          <a:xfrm>
            <a:off x="7329374" y="2595881"/>
            <a:ext cx="4547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Select the candidate with the highest-quality match score (within 90% of the global best), then use spatial proximity as the tiebreak.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34A77F-5AA1-E31C-08FF-BE1748A203E6}"/>
              </a:ext>
            </a:extLst>
          </p:cNvPr>
          <p:cNvSpPr/>
          <p:nvPr/>
        </p:nvSpPr>
        <p:spPr>
          <a:xfrm>
            <a:off x="7162799" y="3962402"/>
            <a:ext cx="4802113" cy="1950718"/>
          </a:xfrm>
          <a:prstGeom prst="roundRect">
            <a:avLst>
              <a:gd name="adj" fmla="val 3771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1E342-C211-21E6-F0D1-70DAA598B1DE}"/>
              </a:ext>
            </a:extLst>
          </p:cNvPr>
          <p:cNvSpPr txBox="1"/>
          <p:nvPr/>
        </p:nvSpPr>
        <p:spPr>
          <a:xfrm>
            <a:off x="7230657" y="4060371"/>
            <a:ext cx="4007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Decision Rule in DL Approach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7F575-B590-7A0F-6C1B-247879FAB9D3}"/>
              </a:ext>
            </a:extLst>
          </p:cNvPr>
          <p:cNvSpPr txBox="1"/>
          <p:nvPr/>
        </p:nvSpPr>
        <p:spPr>
          <a:xfrm>
            <a:off x="7329374" y="4541520"/>
            <a:ext cx="463553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For prediction (</a:t>
            </a:r>
            <a:r>
              <a:rPr lang="en-IN" dirty="0" err="1">
                <a:solidFill>
                  <a:schemeClr val="bg1"/>
                </a:solidFill>
              </a:rPr>
              <a:t>xₚ,y</a:t>
            </a:r>
            <a:r>
              <a:rPr lang="en-IN" dirty="0">
                <a:solidFill>
                  <a:schemeClr val="bg1"/>
                </a:solidFill>
              </a:rPr>
              <a:t>ₚ) and ground truth (</a:t>
            </a:r>
            <a:r>
              <a:rPr lang="en-IN" dirty="0" err="1">
                <a:solidFill>
                  <a:schemeClr val="bg1"/>
                </a:solidFill>
              </a:rPr>
              <a:t>xg,yg</a:t>
            </a:r>
            <a:r>
              <a:rPr lang="en-IN" dirty="0">
                <a:solidFill>
                  <a:schemeClr val="bg1"/>
                </a:solidFill>
              </a:rPr>
              <a:t>):</a:t>
            </a:r>
          </a:p>
          <a:p>
            <a:r>
              <a:rPr lang="en-IN" b="1" dirty="0">
                <a:solidFill>
                  <a:schemeClr val="bg1"/>
                </a:solidFill>
              </a:rPr>
              <a:t>Localization error e = √[(xₚ − </a:t>
            </a:r>
            <a:r>
              <a:rPr lang="en-IN" b="1" dirty="0" err="1">
                <a:solidFill>
                  <a:schemeClr val="bg1"/>
                </a:solidFill>
              </a:rPr>
              <a:t>xg</a:t>
            </a:r>
            <a:r>
              <a:rPr lang="en-IN" b="1" dirty="0">
                <a:solidFill>
                  <a:schemeClr val="bg1"/>
                </a:solidFill>
              </a:rPr>
              <a:t>)² + (yₚ − </a:t>
            </a:r>
            <a:r>
              <a:rPr lang="en-IN" b="1" dirty="0" err="1">
                <a:solidFill>
                  <a:schemeClr val="bg1"/>
                </a:solidFill>
              </a:rPr>
              <a:t>yg</a:t>
            </a:r>
            <a:r>
              <a:rPr lang="en-IN" b="1" dirty="0">
                <a:solidFill>
                  <a:schemeClr val="bg1"/>
                </a:solidFill>
              </a:rPr>
              <a:t>)²]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 prediction is counted as correct when:</a:t>
            </a:r>
          </a:p>
          <a:p>
            <a:r>
              <a:rPr lang="en-IN" dirty="0">
                <a:solidFill>
                  <a:schemeClr val="bg1"/>
                </a:solidFill>
              </a:rPr>
              <a:t>e ≤ chosen tolerance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98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33C7F-CC9F-0925-8AF4-D6B4FFA8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A35C31-9511-86D7-6DD9-464B883C4CE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B1F250B-9D0A-7841-9604-894969CE60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ACD58EF4-BCC1-0554-00C2-AD8AB31395CD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5E80A-1ED3-D0DC-156D-630FAC4B8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413EF674-382C-EDC3-9169-DA68AFDA5B3B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5D5D2DE-5393-0ED6-BB91-C97E782D1693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5440941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1ECB0E-B848-AFB2-EEB4-A161BDC250DE}"/>
              </a:ext>
            </a:extLst>
          </p:cNvPr>
          <p:cNvSpPr txBox="1"/>
          <p:nvPr/>
        </p:nvSpPr>
        <p:spPr>
          <a:xfrm>
            <a:off x="422209" y="7145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Implementation and Execution Commands 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ACE34-08BB-7D71-487B-A91692E27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3945" y="1452136"/>
            <a:ext cx="3754236" cy="5013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80B0A4-2869-7247-10EF-6CEE8CA88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2817" y="2265751"/>
            <a:ext cx="3869153" cy="348397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49FCDB87-C6DB-F1ED-6FA6-DEE6A6FB4E32}"/>
              </a:ext>
            </a:extLst>
          </p:cNvPr>
          <p:cNvGrpSpPr/>
          <p:nvPr/>
        </p:nvGrpSpPr>
        <p:grpSpPr>
          <a:xfrm>
            <a:off x="7045409" y="2974311"/>
            <a:ext cx="4929664" cy="1493515"/>
            <a:chOff x="3682860" y="2011683"/>
            <a:chExt cx="4929664" cy="149351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9FCC947-8599-7291-BE12-F9D28B3EB792}"/>
                </a:ext>
              </a:extLst>
            </p:cNvPr>
            <p:cNvSpPr/>
            <p:nvPr/>
          </p:nvSpPr>
          <p:spPr>
            <a:xfrm>
              <a:off x="3682860" y="2011683"/>
              <a:ext cx="4929664" cy="1493515"/>
            </a:xfrm>
            <a:prstGeom prst="roundRect">
              <a:avLst>
                <a:gd name="adj" fmla="val 3771"/>
              </a:avLst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677078-C9D6-0330-0747-B24309A03C49}"/>
                </a:ext>
              </a:extLst>
            </p:cNvPr>
            <p:cNvSpPr txBox="1"/>
            <p:nvPr/>
          </p:nvSpPr>
          <p:spPr>
            <a:xfrm>
              <a:off x="3881119" y="2502878"/>
              <a:ext cx="47314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python evaluate_dl.py \  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   --manifest data/</a:t>
              </a:r>
              <a:r>
                <a:rPr lang="en-US" dirty="0" err="1">
                  <a:solidFill>
                    <a:schemeClr val="bg1"/>
                  </a:solidFill>
                </a:rPr>
                <a:t>train_canonical</a:t>
              </a:r>
              <a:r>
                <a:rPr lang="en-US" dirty="0">
                  <a:solidFill>
                    <a:schemeClr val="bg1"/>
                  </a:solidFill>
                </a:rPr>
                <a:t>/manifest.csv \  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   --csv-out results/predictions_dl.csv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D6771E8-D836-681C-9D34-D0C6F2E16B97}"/>
                </a:ext>
              </a:extLst>
            </p:cNvPr>
            <p:cNvSpPr txBox="1"/>
            <p:nvPr/>
          </p:nvSpPr>
          <p:spPr>
            <a:xfrm>
              <a:off x="3749039" y="2078481"/>
              <a:ext cx="3860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Execution Commands for DL Pipeline :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775688-DE2D-F63E-9C1B-D418B08036E1}"/>
              </a:ext>
            </a:extLst>
          </p:cNvPr>
          <p:cNvGrpSpPr/>
          <p:nvPr/>
        </p:nvGrpSpPr>
        <p:grpSpPr>
          <a:xfrm>
            <a:off x="7045409" y="1326040"/>
            <a:ext cx="4929664" cy="1493515"/>
            <a:chOff x="8785119" y="1682244"/>
            <a:chExt cx="4929664" cy="149351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907BEC5-D65A-897F-6369-F1EA100FED99}"/>
                </a:ext>
              </a:extLst>
            </p:cNvPr>
            <p:cNvSpPr/>
            <p:nvPr/>
          </p:nvSpPr>
          <p:spPr>
            <a:xfrm>
              <a:off x="8785119" y="1682244"/>
              <a:ext cx="4929664" cy="1493515"/>
            </a:xfrm>
            <a:prstGeom prst="roundRect">
              <a:avLst>
                <a:gd name="adj" fmla="val 3771"/>
              </a:avLst>
            </a:prstGeom>
            <a:noFill/>
            <a:ln w="571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E23003-2FDE-969A-67EA-A55F3454F75D}"/>
                </a:ext>
              </a:extLst>
            </p:cNvPr>
            <p:cNvSpPr txBox="1"/>
            <p:nvPr/>
          </p:nvSpPr>
          <p:spPr>
            <a:xfrm>
              <a:off x="8983378" y="2173439"/>
              <a:ext cx="473140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python evaluate.py \  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   --manifest data/</a:t>
              </a:r>
              <a:r>
                <a:rPr lang="en-US" dirty="0" err="1">
                  <a:solidFill>
                    <a:schemeClr val="bg1"/>
                  </a:solidFill>
                </a:rPr>
                <a:t>train_canonical</a:t>
              </a:r>
              <a:r>
                <a:rPr lang="en-US" dirty="0">
                  <a:solidFill>
                    <a:schemeClr val="bg1"/>
                  </a:solidFill>
                </a:rPr>
                <a:t>/manifest.csv \  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   --csv-out results/predictions.csv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A7C4F4A-2323-C630-473E-0A299B367434}"/>
                </a:ext>
              </a:extLst>
            </p:cNvPr>
            <p:cNvSpPr txBox="1"/>
            <p:nvPr/>
          </p:nvSpPr>
          <p:spPr>
            <a:xfrm>
              <a:off x="8851298" y="1749042"/>
              <a:ext cx="4731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Execution Commands for Classical CV Pipeline :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6ABA183-814F-54AC-92D6-5E53C354407A}"/>
              </a:ext>
            </a:extLst>
          </p:cNvPr>
          <p:cNvSpPr/>
          <p:nvPr/>
        </p:nvSpPr>
        <p:spPr>
          <a:xfrm>
            <a:off x="7045409" y="4621966"/>
            <a:ext cx="4929664" cy="1992194"/>
          </a:xfrm>
          <a:prstGeom prst="roundRect">
            <a:avLst>
              <a:gd name="adj" fmla="val 3771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FF5A9E-DA04-21CC-A6D2-6C80E1EBABC7}"/>
              </a:ext>
            </a:extLst>
          </p:cNvPr>
          <p:cNvSpPr txBox="1"/>
          <p:nvPr/>
        </p:nvSpPr>
        <p:spPr>
          <a:xfrm>
            <a:off x="7177767" y="5060777"/>
            <a:ext cx="47314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python merge_results.py \ 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--manifest data/</a:t>
            </a:r>
            <a:r>
              <a:rPr lang="en-IN" dirty="0" err="1">
                <a:solidFill>
                  <a:schemeClr val="bg1"/>
                </a:solidFill>
              </a:rPr>
              <a:t>train_canonical</a:t>
            </a:r>
            <a:r>
              <a:rPr lang="en-IN" dirty="0">
                <a:solidFill>
                  <a:schemeClr val="bg1"/>
                </a:solidFill>
              </a:rPr>
              <a:t>/manifest.csv \ 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--classical results/predictions.csv \ 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--dl results/predictions_dl.csv \  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--out results/full_results.csv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D378C0-4F62-A789-D603-ADBFFA76A654}"/>
              </a:ext>
            </a:extLst>
          </p:cNvPr>
          <p:cNvSpPr txBox="1"/>
          <p:nvPr/>
        </p:nvSpPr>
        <p:spPr>
          <a:xfrm>
            <a:off x="7111588" y="4688764"/>
            <a:ext cx="473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Execution Commands for Merging the Results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E49EAAE-07D5-5FA4-9CB3-4FCCF6553906}"/>
              </a:ext>
            </a:extLst>
          </p:cNvPr>
          <p:cNvSpPr/>
          <p:nvPr/>
        </p:nvSpPr>
        <p:spPr>
          <a:xfrm>
            <a:off x="3790364" y="5742993"/>
            <a:ext cx="3093169" cy="861007"/>
          </a:xfrm>
          <a:prstGeom prst="roundRect">
            <a:avLst>
              <a:gd name="adj" fmla="val 3771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3E7417-421E-FF2A-12CD-39488E333AE4}"/>
              </a:ext>
            </a:extLst>
          </p:cNvPr>
          <p:cNvSpPr txBox="1"/>
          <p:nvPr/>
        </p:nvSpPr>
        <p:spPr>
          <a:xfrm>
            <a:off x="3790364" y="5762231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Confidence Analysis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61949D-4A6F-878D-02D8-1E07C02AA45A}"/>
              </a:ext>
            </a:extLst>
          </p:cNvPr>
          <p:cNvSpPr txBox="1"/>
          <p:nvPr/>
        </p:nvSpPr>
        <p:spPr>
          <a:xfrm>
            <a:off x="4003040" y="6150801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python pr_curve.py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23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CFAC9-A888-3A65-BFB0-02BE1731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9892A2-C432-6EA6-FD4C-C35FE6AFA74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B9513A9-3597-4694-6367-A6CAB5C743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9FD6360B-92CB-487E-04E2-5D7CF4DFE5FF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AB2BC-F8C6-AE3B-85AD-534701BCD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50BB4E6F-BF4F-8EBA-5FF8-642C5F70C34C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4F40F9D-886D-F882-37FD-E51F7B9D18FA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4638301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B307EEE-04B1-486E-846E-5EB1A3C60032}"/>
              </a:ext>
            </a:extLst>
          </p:cNvPr>
          <p:cNvSpPr txBox="1"/>
          <p:nvPr/>
        </p:nvSpPr>
        <p:spPr>
          <a:xfrm>
            <a:off x="422209" y="7145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Experiment Setup and Test Diversity : 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1C27AF-AF02-2EAC-70E1-62267B7EC0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5681" y="1732222"/>
            <a:ext cx="6810481" cy="40647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0177FA-9104-B6E3-5EAE-4DEF68ACB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22" y="1624785"/>
            <a:ext cx="5696352" cy="475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B76BA-C380-E927-590D-A3FB832C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AA40D6-3078-D83D-CD41-D79AEB90D56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84F8997-BA37-7636-E3E0-D571CADC02C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58F2339E-F556-D1D1-27C7-FA1F638AAE92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D95FC-02E8-E822-56B9-064314F66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D2472851-B8BF-5200-4C64-4FA1ECCABCC0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2BF8CEA-03CE-5D51-8240-859B44E44086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6893821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1F0C62-CA10-4AF7-748F-26C5EB55C875}"/>
              </a:ext>
            </a:extLst>
          </p:cNvPr>
          <p:cNvSpPr txBox="1"/>
          <p:nvPr/>
        </p:nvSpPr>
        <p:spPr>
          <a:xfrm>
            <a:off x="422209" y="7145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Threshold-wise Accuracy, Error Statistics and Run Time : 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C58416-B52E-1C79-270C-CF7D1C216893}"/>
              </a:ext>
            </a:extLst>
          </p:cNvPr>
          <p:cNvSpPr/>
          <p:nvPr/>
        </p:nvSpPr>
        <p:spPr>
          <a:xfrm>
            <a:off x="431539" y="1478436"/>
            <a:ext cx="11384541" cy="1021096"/>
          </a:xfrm>
          <a:prstGeom prst="roundRect">
            <a:avLst>
              <a:gd name="adj" fmla="val 3771"/>
            </a:avLst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C1264C-7D06-92F8-2CDB-43FC4FC51C72}"/>
              </a:ext>
            </a:extLst>
          </p:cNvPr>
          <p:cNvSpPr txBox="1"/>
          <p:nvPr/>
        </p:nvSpPr>
        <p:spPr>
          <a:xfrm>
            <a:off x="487680" y="1529447"/>
            <a:ext cx="19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Main Conclusion :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D173A7-FCAF-E7B3-03DC-24FA94857748}"/>
              </a:ext>
            </a:extLst>
          </p:cNvPr>
          <p:cNvSpPr txBox="1"/>
          <p:nvPr/>
        </p:nvSpPr>
        <p:spPr>
          <a:xfrm>
            <a:off x="660400" y="1832882"/>
            <a:ext cx="1104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DL provides both higher localization accuracy and lower inference time on the canonical defect-injected, variable-scale dataset.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6AC0C5-9E61-34DC-9127-30357F6F5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4511" y="2439357"/>
            <a:ext cx="6241729" cy="46134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AE935EC-8531-C810-DA6B-013801B4318C}"/>
              </a:ext>
            </a:extLst>
          </p:cNvPr>
          <p:cNvGrpSpPr/>
          <p:nvPr/>
        </p:nvGrpSpPr>
        <p:grpSpPr>
          <a:xfrm>
            <a:off x="111760" y="2359713"/>
            <a:ext cx="5557520" cy="4649394"/>
            <a:chOff x="111760" y="2359713"/>
            <a:chExt cx="5557520" cy="464939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F17E02A-F722-A2CF-2FB9-3A94E3352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760" y="2359713"/>
              <a:ext cx="5374640" cy="4649394"/>
            </a:xfrm>
            <a:prstGeom prst="rect">
              <a:avLst/>
            </a:prstGeom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73B6C21-1C9B-C4A0-E657-0B0BC6170D6A}"/>
                </a:ext>
              </a:extLst>
            </p:cNvPr>
            <p:cNvCxnSpPr>
              <a:cxnSpLocks/>
            </p:cNvCxnSpPr>
            <p:nvPr/>
          </p:nvCxnSpPr>
          <p:spPr>
            <a:xfrm>
              <a:off x="5669280" y="2976880"/>
              <a:ext cx="0" cy="361696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69DBC69-60C0-7CA6-6A60-98AC5EB9BA69}"/>
                </a:ext>
              </a:extLst>
            </p:cNvPr>
            <p:cNvSpPr/>
            <p:nvPr/>
          </p:nvSpPr>
          <p:spPr>
            <a:xfrm>
              <a:off x="3279936" y="5914260"/>
              <a:ext cx="1066800" cy="339090"/>
            </a:xfrm>
            <a:prstGeom prst="roundRect">
              <a:avLst>
                <a:gd name="adj" fmla="val 28862"/>
              </a:avLst>
            </a:prstGeom>
            <a:solidFill>
              <a:srgbClr val="FD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087085-2615-A2FC-FC92-17208AF80F11}"/>
                </a:ext>
              </a:extLst>
            </p:cNvPr>
            <p:cNvSpPr txBox="1"/>
            <p:nvPr/>
          </p:nvSpPr>
          <p:spPr>
            <a:xfrm>
              <a:off x="3253266" y="5914260"/>
              <a:ext cx="11546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3.6% @1px </a:t>
              </a:r>
              <a:r>
                <a:rPr lang="en-US" sz="800" dirty="0">
                  <a:sym typeface="Wingdings" panose="05000000000000000000" pitchFamily="2" charset="2"/>
                </a:rPr>
                <a:t> 58.2% @5px  87.9% @10px</a:t>
              </a:r>
              <a:endParaRPr lang="en-IN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904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B7CB-6C72-4315-D149-ABB3F586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CD3B4E-239A-9AB9-34B5-6F3511C7F6C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1ABD6BE-FF68-39C9-43AA-63C3D5E36A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8080FBCE-9855-1D82-A7B2-07E4EE5CC827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3A0DE-581F-50A1-37B7-2D34570204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00469E40-B72C-2990-B29D-9BA3B7DD3BDF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16A5A93-4E88-0823-6615-96CADD969579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6893821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C33F49-73AF-B9A2-3E98-710B28C5C920}"/>
              </a:ext>
            </a:extLst>
          </p:cNvPr>
          <p:cNvSpPr txBox="1"/>
          <p:nvPr/>
        </p:nvSpPr>
        <p:spPr>
          <a:xfrm>
            <a:off x="422209" y="7145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Robustness Comparison and Baseline/Ablation : 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7B6C29-DF58-DB42-C896-DA51A8175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5653" y="920064"/>
            <a:ext cx="6331101" cy="625289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5D99E5-850F-4658-F7B0-F81B6D32D834}"/>
              </a:ext>
            </a:extLst>
          </p:cNvPr>
          <p:cNvSpPr/>
          <p:nvPr/>
        </p:nvSpPr>
        <p:spPr>
          <a:xfrm>
            <a:off x="2296160" y="6523833"/>
            <a:ext cx="3117088" cy="270740"/>
          </a:xfrm>
          <a:prstGeom prst="roundRect">
            <a:avLst>
              <a:gd name="adj" fmla="val 31678"/>
            </a:avLst>
          </a:prstGeom>
          <a:solidFill>
            <a:srgbClr val="F560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3CAAA8-CA52-5039-69F4-CD96AF1ACCD4}"/>
              </a:ext>
            </a:extLst>
          </p:cNvPr>
          <p:cNvSpPr txBox="1"/>
          <p:nvPr/>
        </p:nvSpPr>
        <p:spPr>
          <a:xfrm>
            <a:off x="2229104" y="6541467"/>
            <a:ext cx="3184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The dominant problem is </a:t>
            </a:r>
            <a:r>
              <a:rPr lang="en-IN" sz="1100" b="1" dirty="0"/>
              <a:t>not search-window size</a:t>
            </a:r>
            <a:r>
              <a:rPr lang="en-IN" sz="1100" dirty="0"/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22E8D3-23EF-EC19-162E-DF159EED581C}"/>
              </a:ext>
            </a:extLst>
          </p:cNvPr>
          <p:cNvSpPr/>
          <p:nvPr/>
        </p:nvSpPr>
        <p:spPr>
          <a:xfrm>
            <a:off x="2296160" y="5175504"/>
            <a:ext cx="3492952" cy="398837"/>
          </a:xfrm>
          <a:prstGeom prst="roundRect">
            <a:avLst/>
          </a:prstGeom>
          <a:solidFill>
            <a:srgbClr val="FDB4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09469E-3CC4-E351-5619-240B1A4EAAFE}"/>
              </a:ext>
            </a:extLst>
          </p:cNvPr>
          <p:cNvSpPr txBox="1"/>
          <p:nvPr/>
        </p:nvSpPr>
        <p:spPr>
          <a:xfrm>
            <a:off x="2227016" y="5159721"/>
            <a:ext cx="3562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/>
              <a:t>More search coverage does not automatically mean better localization; </a:t>
            </a:r>
            <a:r>
              <a:rPr lang="en-IN" sz="1050" b="1" dirty="0"/>
              <a:t>candidate-selection logic matters.</a:t>
            </a:r>
            <a:endParaRPr lang="en-IN" sz="10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340FE52-D944-8038-6701-C6506308BC2C}"/>
              </a:ext>
            </a:extLst>
          </p:cNvPr>
          <p:cNvSpPr/>
          <p:nvPr/>
        </p:nvSpPr>
        <p:spPr>
          <a:xfrm>
            <a:off x="2450592" y="3534197"/>
            <a:ext cx="3742944" cy="262111"/>
          </a:xfrm>
          <a:prstGeom prst="roundRect">
            <a:avLst/>
          </a:prstGeom>
          <a:solidFill>
            <a:srgbClr val="E3E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050B2B-9B1A-C9F2-9963-7E49C32D9761}"/>
              </a:ext>
            </a:extLst>
          </p:cNvPr>
          <p:cNvSpPr txBox="1"/>
          <p:nvPr/>
        </p:nvSpPr>
        <p:spPr>
          <a:xfrm>
            <a:off x="2400317" y="3546630"/>
            <a:ext cx="38434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/>
              <a:t>Breaking artificial perfect periodicity was the largest improvement.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C1B2283-BAD3-765C-D427-5D4FB0D1835A}"/>
              </a:ext>
            </a:extLst>
          </p:cNvPr>
          <p:cNvGrpSpPr/>
          <p:nvPr/>
        </p:nvGrpSpPr>
        <p:grpSpPr>
          <a:xfrm>
            <a:off x="5789112" y="950544"/>
            <a:ext cx="5915208" cy="5573289"/>
            <a:chOff x="5789112" y="950544"/>
            <a:chExt cx="5915208" cy="557328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5784E42-9264-3847-0A23-AE495EAF3524}"/>
                </a:ext>
              </a:extLst>
            </p:cNvPr>
            <p:cNvGrpSpPr/>
            <p:nvPr/>
          </p:nvGrpSpPr>
          <p:grpSpPr>
            <a:xfrm>
              <a:off x="5789112" y="950544"/>
              <a:ext cx="5915208" cy="5573289"/>
              <a:chOff x="5789112" y="950544"/>
              <a:chExt cx="5915208" cy="5573289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AF16403-EEE0-A4B5-57FE-1C9B934585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89112" y="950544"/>
                <a:ext cx="5915208" cy="5573289"/>
              </a:xfrm>
              <a:prstGeom prst="rect">
                <a:avLst/>
              </a:prstGeom>
            </p:spPr>
          </p:pic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EB54E6A-984F-EFAF-0B99-454E880EF6F5}"/>
                  </a:ext>
                </a:extLst>
              </p:cNvPr>
              <p:cNvSpPr/>
              <p:nvPr/>
            </p:nvSpPr>
            <p:spPr>
              <a:xfrm>
                <a:off x="9650730" y="2932217"/>
                <a:ext cx="895350" cy="262890"/>
              </a:xfrm>
              <a:prstGeom prst="roundRect">
                <a:avLst>
                  <a:gd name="adj" fmla="val 44737"/>
                </a:avLst>
              </a:prstGeom>
              <a:solidFill>
                <a:srgbClr val="E3EF3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E82194-8516-59B4-18CD-6016624C1CAD}"/>
                  </a:ext>
                </a:extLst>
              </p:cNvPr>
              <p:cNvSpPr txBox="1"/>
              <p:nvPr/>
            </p:nvSpPr>
            <p:spPr>
              <a:xfrm>
                <a:off x="9631528" y="2937297"/>
                <a:ext cx="934872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DL: ⁓56-60%</a:t>
                </a:r>
                <a:endParaRPr lang="en-IN" sz="1050" dirty="0"/>
              </a:p>
            </p:txBody>
          </p:sp>
        </p:grp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7BFDADD-52E5-4C07-FB65-6C1B96CB07CE}"/>
                </a:ext>
              </a:extLst>
            </p:cNvPr>
            <p:cNvSpPr/>
            <p:nvPr/>
          </p:nvSpPr>
          <p:spPr>
            <a:xfrm>
              <a:off x="9482685" y="4582160"/>
              <a:ext cx="1386840" cy="421640"/>
            </a:xfrm>
            <a:prstGeom prst="roundRect">
              <a:avLst>
                <a:gd name="adj" fmla="val 30953"/>
              </a:avLst>
            </a:prstGeom>
            <a:solidFill>
              <a:srgbClr val="F560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60E714-6F74-9FB8-2B32-033007AE6078}"/>
                </a:ext>
              </a:extLst>
            </p:cNvPr>
            <p:cNvSpPr txBox="1"/>
            <p:nvPr/>
          </p:nvSpPr>
          <p:spPr>
            <a:xfrm>
              <a:off x="9519920" y="4586054"/>
              <a:ext cx="13868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DL : 59.8% </a:t>
              </a:r>
              <a:r>
                <a:rPr lang="en-US" sz="1100" dirty="0">
                  <a:sym typeface="Wingdings" panose="05000000000000000000" pitchFamily="2" charset="2"/>
                </a:rPr>
                <a:t> 57.7%  57.3%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72589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3A0A-EA0C-C140-6149-3177FEA7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B4442D-C1A2-1BD2-89DA-5B11A808999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6054C33-415E-C77E-2B76-34659A41B2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19156242-B4DB-EA93-1335-218D4FF808F6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A879B-9278-907F-3FE6-53D1528CF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88751BA9-B87F-15CF-8B8A-D2D474056F5D}"/>
              </a:ext>
            </a:extLst>
          </p:cNvPr>
          <p:cNvSpPr/>
          <p:nvPr/>
        </p:nvSpPr>
        <p:spPr>
          <a:xfrm>
            <a:off x="216928" y="7173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D5FE94A-FC50-78D3-A27D-4B8FDE83D784}"/>
              </a:ext>
            </a:extLst>
          </p:cNvPr>
          <p:cNvCxnSpPr>
            <a:cxnSpLocks/>
          </p:cNvCxnSpPr>
          <p:nvPr/>
        </p:nvCxnSpPr>
        <p:spPr>
          <a:xfrm>
            <a:off x="431539" y="1283658"/>
            <a:ext cx="4793604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66C0F87-EE7B-25BF-22A5-5F140486B73B}"/>
              </a:ext>
            </a:extLst>
          </p:cNvPr>
          <p:cNvSpPr txBox="1"/>
          <p:nvPr/>
        </p:nvSpPr>
        <p:spPr>
          <a:xfrm>
            <a:off x="422209" y="7145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Failure Case, Limitation and Learning : 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05C0E5-20D7-B007-96D3-1BE877E9B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60478"/>
            <a:ext cx="12192000" cy="499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43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38688-B137-61CC-8159-3126018A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020D75-AB14-7AF3-1A86-2281CE6E2DB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9229DD4-A331-1AF2-E1F8-7EE99060FE7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0" name="Shape 1">
            <a:extLst>
              <a:ext uri="{FF2B5EF4-FFF2-40B4-BE49-F238E27FC236}">
                <a16:creationId xmlns:a16="http://schemas.microsoft.com/office/drawing/2014/main" id="{E09279F5-270A-3AD0-CBB1-29299F0A7932}"/>
              </a:ext>
            </a:extLst>
          </p:cNvPr>
          <p:cNvSpPr/>
          <p:nvPr/>
        </p:nvSpPr>
        <p:spPr>
          <a:xfrm>
            <a:off x="3424335" y="63427"/>
            <a:ext cx="5360784" cy="521892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4CFF3-DB5B-3A53-DE39-FB139A361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91" y="171069"/>
            <a:ext cx="4931419" cy="315595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A87F942F-818C-A384-14E2-ED0F812DF55E}"/>
              </a:ext>
            </a:extLst>
          </p:cNvPr>
          <p:cNvSpPr/>
          <p:nvPr/>
        </p:nvSpPr>
        <p:spPr>
          <a:xfrm>
            <a:off x="216928" y="59606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B7CD915-9E98-1C42-469C-001E37EEA18B}"/>
              </a:ext>
            </a:extLst>
          </p:cNvPr>
          <p:cNvCxnSpPr>
            <a:cxnSpLocks/>
          </p:cNvCxnSpPr>
          <p:nvPr/>
        </p:nvCxnSpPr>
        <p:spPr>
          <a:xfrm>
            <a:off x="459532" y="1059718"/>
            <a:ext cx="6510437" cy="0"/>
          </a:xfrm>
          <a:prstGeom prst="line">
            <a:avLst/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27EEE2-8536-D029-2303-A4CB985C75F0}"/>
              </a:ext>
            </a:extLst>
          </p:cNvPr>
          <p:cNvSpPr txBox="1"/>
          <p:nvPr/>
        </p:nvSpPr>
        <p:spPr>
          <a:xfrm>
            <a:off x="422209" y="593257"/>
            <a:ext cx="11552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Conclusion, Next Steps, GitHub &amp; Demo Video Link : 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DA0D02C-A4C2-81FF-E5E1-40180409CFD8}"/>
              </a:ext>
            </a:extLst>
          </p:cNvPr>
          <p:cNvSpPr/>
          <p:nvPr/>
        </p:nvSpPr>
        <p:spPr>
          <a:xfrm>
            <a:off x="276147" y="5057192"/>
            <a:ext cx="7679003" cy="855410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19D6314-67E8-DE73-8AEF-6E69C8FABF7B}"/>
              </a:ext>
            </a:extLst>
          </p:cNvPr>
          <p:cNvGrpSpPr/>
          <p:nvPr/>
        </p:nvGrpSpPr>
        <p:grpSpPr>
          <a:xfrm>
            <a:off x="416111" y="5428535"/>
            <a:ext cx="427587" cy="400508"/>
            <a:chOff x="374846" y="3917440"/>
            <a:chExt cx="666598" cy="666598"/>
          </a:xfrm>
        </p:grpSpPr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06DBCC20-7A16-8364-9D4D-CA515BB09667}"/>
                </a:ext>
              </a:extLst>
            </p:cNvPr>
            <p:cNvSpPr/>
            <p:nvPr/>
          </p:nvSpPr>
          <p:spPr>
            <a:xfrm>
              <a:off x="374846" y="3917440"/>
              <a:ext cx="666598" cy="666598"/>
            </a:xfrm>
            <a:prstGeom prst="ellipse">
              <a:avLst/>
            </a:prstGeom>
            <a:solidFill>
              <a:srgbClr val="273383">
                <a:alpha val="60000"/>
              </a:srgbClr>
            </a:solidFill>
            <a:ln w="25400">
              <a:solidFill>
                <a:srgbClr val="AEFF82"/>
              </a:solidFill>
              <a:prstDash val="solid"/>
            </a:ln>
            <a:effectLst>
              <a:outerShdw blurRad="139700" dist="12700" dir="16200000" algn="bl" rotWithShape="0">
                <a:srgbClr val="88E555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3" descr="preencoded.png">
              <a:extLst>
                <a:ext uri="{FF2B5EF4-FFF2-40B4-BE49-F238E27FC236}">
                  <a16:creationId xmlns:a16="http://schemas.microsoft.com/office/drawing/2014/main" id="{FDA9BC61-8F25-CFC3-747D-726FB320F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237" r="-237"/>
            <a:stretch/>
          </p:blipFill>
          <p:spPr>
            <a:xfrm>
              <a:off x="541267" y="4079289"/>
              <a:ext cx="333756" cy="342900"/>
            </a:xfrm>
            <a:prstGeom prst="rect">
              <a:avLst/>
            </a:prstGeom>
          </p:spPr>
        </p:pic>
      </p:grpSp>
      <p:sp>
        <p:nvSpPr>
          <p:cNvPr id="16" name="Text 11">
            <a:extLst>
              <a:ext uri="{FF2B5EF4-FFF2-40B4-BE49-F238E27FC236}">
                <a16:creationId xmlns:a16="http://schemas.microsoft.com/office/drawing/2014/main" id="{F1F10A2B-FDA9-06B7-D983-DFA4C3FE5126}"/>
              </a:ext>
            </a:extLst>
          </p:cNvPr>
          <p:cNvSpPr txBox="1"/>
          <p:nvPr/>
        </p:nvSpPr>
        <p:spPr>
          <a:xfrm>
            <a:off x="1015336" y="5127279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20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CD1575B-2DA7-A195-E891-87884C5ACC1E}"/>
              </a:ext>
            </a:extLst>
          </p:cNvPr>
          <p:cNvGrpSpPr/>
          <p:nvPr/>
        </p:nvGrpSpPr>
        <p:grpSpPr>
          <a:xfrm>
            <a:off x="981409" y="5409166"/>
            <a:ext cx="6973741" cy="401942"/>
            <a:chOff x="1323673" y="5076754"/>
            <a:chExt cx="6852478" cy="433903"/>
          </a:xfrm>
        </p:grpSpPr>
        <p:pic>
          <p:nvPicPr>
            <p:cNvPr id="20" name="Image 4" descr="preencoded.png">
              <a:extLst>
                <a:ext uri="{FF2B5EF4-FFF2-40B4-BE49-F238E27FC236}">
                  <a16:creationId xmlns:a16="http://schemas.microsoft.com/office/drawing/2014/main" id="{E8781485-103A-7D0A-F4C8-8B445BDCB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180" b="-180"/>
            <a:stretch/>
          </p:blipFill>
          <p:spPr>
            <a:xfrm>
              <a:off x="1433969" y="5225632"/>
              <a:ext cx="190195" cy="152705"/>
            </a:xfrm>
            <a:prstGeom prst="rect">
              <a:avLst/>
            </a:prstGeom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F6A2778A-1A3C-A322-5DE6-0BD8E2FE99BB}"/>
                </a:ext>
              </a:extLst>
            </p:cNvPr>
            <p:cNvGrpSpPr/>
            <p:nvPr/>
          </p:nvGrpSpPr>
          <p:grpSpPr>
            <a:xfrm>
              <a:off x="1323673" y="5076754"/>
              <a:ext cx="6852478" cy="433903"/>
              <a:chOff x="1345938" y="4146040"/>
              <a:chExt cx="9304032" cy="590702"/>
            </a:xfrm>
          </p:grpSpPr>
          <p:sp>
            <p:nvSpPr>
              <p:cNvPr id="18" name="Shape 12">
                <a:extLst>
                  <a:ext uri="{FF2B5EF4-FFF2-40B4-BE49-F238E27FC236}">
                    <a16:creationId xmlns:a16="http://schemas.microsoft.com/office/drawing/2014/main" id="{80F05512-E893-C256-3B31-539E8125C768}"/>
                  </a:ext>
                </a:extLst>
              </p:cNvPr>
              <p:cNvSpPr/>
              <p:nvPr/>
            </p:nvSpPr>
            <p:spPr>
              <a:xfrm>
                <a:off x="1345938" y="4146040"/>
                <a:ext cx="9103309" cy="590702"/>
              </a:xfrm>
              <a:prstGeom prst="roundRect">
                <a:avLst>
                  <a:gd name="adj" fmla="val 19974"/>
                </a:avLst>
              </a:prstGeom>
              <a:solidFill>
                <a:srgbClr val="FFFFFF">
                  <a:alpha val="10000"/>
                </a:srgbClr>
              </a:solidFill>
              <a:ln w="12700">
                <a:solidFill>
                  <a:srgbClr val="4B5563"/>
                </a:solidFill>
                <a:prstDash val="solid"/>
              </a:ln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2" name="Text 13">
                <a:extLst>
                  <a:ext uri="{FF2B5EF4-FFF2-40B4-BE49-F238E27FC236}">
                    <a16:creationId xmlns:a16="http://schemas.microsoft.com/office/drawing/2014/main" id="{F34F6131-53F5-3588-46BD-4CF9ABCB8183}"/>
                  </a:ext>
                </a:extLst>
              </p:cNvPr>
              <p:cNvSpPr txBox="1"/>
              <p:nvPr/>
            </p:nvSpPr>
            <p:spPr>
              <a:xfrm>
                <a:off x="1812284" y="4317946"/>
                <a:ext cx="8837686" cy="3022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600" b="1" dirty="0">
                    <a:solidFill>
                      <a:schemeClr val="bg1">
                        <a:lumMod val="95000"/>
                      </a:schemeClr>
                    </a:solidFill>
                  </a:rPr>
                  <a:t>https://github.com/20251414005-ui/The-Nanoscale-Collective-Drift-Sense</a:t>
                </a:r>
              </a:p>
            </p:txBody>
          </p:sp>
        </p:grpSp>
      </p:grpSp>
      <p:sp>
        <p:nvSpPr>
          <p:cNvPr id="24" name="Shape 14">
            <a:extLst>
              <a:ext uri="{FF2B5EF4-FFF2-40B4-BE49-F238E27FC236}">
                <a16:creationId xmlns:a16="http://schemas.microsoft.com/office/drawing/2014/main" id="{5EAA444A-8676-25B9-7666-71A25C00DA72}"/>
              </a:ext>
            </a:extLst>
          </p:cNvPr>
          <p:cNvSpPr/>
          <p:nvPr/>
        </p:nvSpPr>
        <p:spPr>
          <a:xfrm>
            <a:off x="276147" y="5991128"/>
            <a:ext cx="7679003" cy="772310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AE6F7A1-79DE-2AA5-1C4C-47DC49DBD615}"/>
              </a:ext>
            </a:extLst>
          </p:cNvPr>
          <p:cNvGrpSpPr/>
          <p:nvPr/>
        </p:nvGrpSpPr>
        <p:grpSpPr>
          <a:xfrm>
            <a:off x="416839" y="6155897"/>
            <a:ext cx="396620" cy="407432"/>
            <a:chOff x="374846" y="5670345"/>
            <a:chExt cx="666598" cy="666598"/>
          </a:xfrm>
        </p:grpSpPr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1FFD09F5-6F10-C4CD-A5CD-F2B6CA647D30}"/>
                </a:ext>
              </a:extLst>
            </p:cNvPr>
            <p:cNvSpPr/>
            <p:nvPr/>
          </p:nvSpPr>
          <p:spPr>
            <a:xfrm>
              <a:off x="374846" y="5670345"/>
              <a:ext cx="666598" cy="666598"/>
            </a:xfrm>
            <a:prstGeom prst="ellipse">
              <a:avLst/>
            </a:prstGeom>
            <a:solidFill>
              <a:srgbClr val="273383">
                <a:alpha val="60000"/>
              </a:srgbClr>
            </a:solidFill>
            <a:ln w="25400">
              <a:solidFill>
                <a:srgbClr val="AEFF82"/>
              </a:solidFill>
              <a:prstDash val="solid"/>
            </a:ln>
            <a:effectLst>
              <a:outerShdw blurRad="139700" dist="12700" dir="16200000" algn="bl" rotWithShape="0">
                <a:srgbClr val="88E555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pic>
          <p:nvPicPr>
            <p:cNvPr id="28" name="Image 5" descr="preencoded.png">
              <a:extLst>
                <a:ext uri="{FF2B5EF4-FFF2-40B4-BE49-F238E27FC236}">
                  <a16:creationId xmlns:a16="http://schemas.microsoft.com/office/drawing/2014/main" id="{AC47F7C8-63BD-F6B2-B777-9F16E3ADC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-607" r="-607"/>
            <a:stretch/>
          </p:blipFill>
          <p:spPr>
            <a:xfrm>
              <a:off x="512921" y="5832194"/>
              <a:ext cx="390449" cy="342900"/>
            </a:xfrm>
            <a:prstGeom prst="rect">
              <a:avLst/>
            </a:prstGeom>
          </p:spPr>
        </p:pic>
      </p:grpSp>
      <p:sp>
        <p:nvSpPr>
          <p:cNvPr id="30" name="Text 16">
            <a:extLst>
              <a:ext uri="{FF2B5EF4-FFF2-40B4-BE49-F238E27FC236}">
                <a16:creationId xmlns:a16="http://schemas.microsoft.com/office/drawing/2014/main" id="{0D3E174C-40F2-82CD-07AB-6FE24C579153}"/>
              </a:ext>
            </a:extLst>
          </p:cNvPr>
          <p:cNvSpPr txBox="1"/>
          <p:nvPr/>
        </p:nvSpPr>
        <p:spPr>
          <a:xfrm>
            <a:off x="1018734" y="6027945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200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D358199-7E0C-FB5C-AA64-C1A426A13054}"/>
              </a:ext>
            </a:extLst>
          </p:cNvPr>
          <p:cNvGrpSpPr/>
          <p:nvPr/>
        </p:nvGrpSpPr>
        <p:grpSpPr>
          <a:xfrm>
            <a:off x="982044" y="6300157"/>
            <a:ext cx="6822656" cy="408700"/>
            <a:chOff x="1345939" y="5898945"/>
            <a:chExt cx="8363102" cy="590702"/>
          </a:xfrm>
        </p:grpSpPr>
        <p:sp>
          <p:nvSpPr>
            <p:cNvPr id="32" name="Shape 17">
              <a:extLst>
                <a:ext uri="{FF2B5EF4-FFF2-40B4-BE49-F238E27FC236}">
                  <a16:creationId xmlns:a16="http://schemas.microsoft.com/office/drawing/2014/main" id="{FB86838E-0CAA-EB78-1909-4C15EAD6750A}"/>
                </a:ext>
              </a:extLst>
            </p:cNvPr>
            <p:cNvSpPr/>
            <p:nvPr/>
          </p:nvSpPr>
          <p:spPr>
            <a:xfrm>
              <a:off x="1345939" y="5898945"/>
              <a:ext cx="8363102" cy="590702"/>
            </a:xfrm>
            <a:prstGeom prst="roundRect">
              <a:avLst>
                <a:gd name="adj" fmla="val 19974"/>
              </a:avLst>
            </a:prstGeom>
            <a:solidFill>
              <a:srgbClr val="FFFFFF">
                <a:alpha val="10000"/>
              </a:srgbClr>
            </a:solidFill>
            <a:ln w="12700">
              <a:solidFill>
                <a:srgbClr val="4B5563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4" name="Image 6" descr="preencoded.png">
              <a:extLst>
                <a:ext uri="{FF2B5EF4-FFF2-40B4-BE49-F238E27FC236}">
                  <a16:creationId xmlns:a16="http://schemas.microsoft.com/office/drawing/2014/main" id="{A8459BC6-4D89-3C7E-EAF9-7830AE9DA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33" r="-33"/>
            <a:stretch/>
          </p:blipFill>
          <p:spPr>
            <a:xfrm>
              <a:off x="1507788" y="6117487"/>
              <a:ext cx="171907" cy="152705"/>
            </a:xfrm>
            <a:prstGeom prst="rect">
              <a:avLst/>
            </a:prstGeom>
          </p:spPr>
        </p:pic>
        <p:sp>
          <p:nvSpPr>
            <p:cNvPr id="36" name="Text 18">
              <a:extLst>
                <a:ext uri="{FF2B5EF4-FFF2-40B4-BE49-F238E27FC236}">
                  <a16:creationId xmlns:a16="http://schemas.microsoft.com/office/drawing/2014/main" id="{6A1B9596-049A-C7D7-DFE9-767DE9A83EAF}"/>
                </a:ext>
              </a:extLst>
            </p:cNvPr>
            <p:cNvSpPr txBox="1"/>
            <p:nvPr/>
          </p:nvSpPr>
          <p:spPr>
            <a:xfrm>
              <a:off x="1793994" y="6069938"/>
              <a:ext cx="7671361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chemeClr val="bg1">
                      <a:lumMod val="95000"/>
                    </a:schemeClr>
                  </a:solidFill>
                </a:rPr>
                <a:t>https://youtu.be/J4DrD7h_Oh4</a:t>
              </a:r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CB95BEE-F658-6B57-B632-077B76D32A08}"/>
              </a:ext>
            </a:extLst>
          </p:cNvPr>
          <p:cNvSpPr/>
          <p:nvPr/>
        </p:nvSpPr>
        <p:spPr>
          <a:xfrm>
            <a:off x="270323" y="3391305"/>
            <a:ext cx="10427878" cy="1593767"/>
          </a:xfrm>
          <a:prstGeom prst="round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A40B08-AE45-1CA2-8250-D1317862A94E}"/>
              </a:ext>
            </a:extLst>
          </p:cNvPr>
          <p:cNvSpPr txBox="1"/>
          <p:nvPr/>
        </p:nvSpPr>
        <p:spPr>
          <a:xfrm>
            <a:off x="370037" y="3447799"/>
            <a:ext cx="1410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Conclusion :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11D15A-5645-449D-B112-0889C82D5BF5}"/>
              </a:ext>
            </a:extLst>
          </p:cNvPr>
          <p:cNvSpPr txBox="1"/>
          <p:nvPr/>
        </p:nvSpPr>
        <p:spPr>
          <a:xfrm>
            <a:off x="456217" y="3751384"/>
            <a:ext cx="100313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solidFill>
                  <a:schemeClr val="bg1"/>
                </a:solidFill>
              </a:rPr>
              <a:t>What Drift-Sense demonstrated :</a:t>
            </a:r>
          </a:p>
          <a:p>
            <a:pPr lvl="0" algn="just"/>
            <a:r>
              <a:rPr lang="en-IN" sz="1400" b="1" dirty="0">
                <a:solidFill>
                  <a:schemeClr val="bg1"/>
                </a:solidFill>
              </a:rPr>
              <a:t> | Synthetic SEM-like data can be made substantially more useful by modelling realistic degradation and breaking perfect periodicity.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</a:p>
          <a:p>
            <a:pPr lvl="0" algn="just"/>
            <a:r>
              <a:rPr lang="en-IN" sz="1400" b="1" dirty="0">
                <a:solidFill>
                  <a:schemeClr val="bg1"/>
                </a:solidFill>
              </a:rPr>
              <a:t> | Dense periodicity is the dominant localization challenge.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</a:p>
          <a:p>
            <a:pPr lvl="0" algn="just"/>
            <a:r>
              <a:rPr lang="en-IN" sz="1400" b="1" dirty="0">
                <a:solidFill>
                  <a:schemeClr val="bg1"/>
                </a:solidFill>
              </a:rPr>
              <a:t> | Gap-collapse defect injection produced the largest improvement.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</a:p>
          <a:p>
            <a:pPr lvl="0" algn="just"/>
            <a:r>
              <a:rPr lang="en-IN" sz="1400" b="1" dirty="0">
                <a:solidFill>
                  <a:schemeClr val="bg1"/>
                </a:solidFill>
              </a:rPr>
              <a:t> | Score-gated candidate selection solved the scale-sweep regression.</a:t>
            </a: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0DC9A25A-6DF3-52D5-138A-9EE9F6CB94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73" y="945398"/>
            <a:ext cx="11684518" cy="265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1055</Words>
  <Application>Microsoft Office PowerPoint</Application>
  <PresentationFormat>Widescreen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Prasad Sonar</cp:lastModifiedBy>
  <cp:revision>10</cp:revision>
  <dcterms:created xsi:type="dcterms:W3CDTF">2026-01-15T05:38:47Z</dcterms:created>
  <dcterms:modified xsi:type="dcterms:W3CDTF">2026-08-16T13:14:23Z</dcterms:modified>
</cp:coreProperties>
</file>